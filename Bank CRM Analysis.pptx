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103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BBC93F-4FFD-4F94-912C-CB2CAB0089A8}"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IN"/>
        </a:p>
      </dgm:t>
    </dgm:pt>
    <dgm:pt modelId="{0ECCCE8B-F06A-4645-927A-90FC0B9BF3EA}">
      <dgm:prSet custT="1"/>
      <dgm:spPr/>
      <dgm:t>
        <a:bodyPr/>
        <a:lstStyle/>
        <a:p>
          <a:r>
            <a:rPr lang="en-IN" sz="1800" dirty="0">
              <a:latin typeface="Helvetica" pitchFamily="2" charset="0"/>
            </a:rPr>
            <a:t>CHURN RATE</a:t>
          </a:r>
        </a:p>
      </dgm:t>
    </dgm:pt>
    <dgm:pt modelId="{BCB1D1E3-4826-4A1B-A2DD-0DD61A84EDE0}" type="parTrans" cxnId="{08180DCC-9C87-4F91-9DD1-0AC1281587AD}">
      <dgm:prSet/>
      <dgm:spPr/>
      <dgm:t>
        <a:bodyPr/>
        <a:lstStyle/>
        <a:p>
          <a:endParaRPr lang="en-IN">
            <a:latin typeface="Helvetica" pitchFamily="2" charset="0"/>
          </a:endParaRPr>
        </a:p>
      </dgm:t>
    </dgm:pt>
    <dgm:pt modelId="{467CDD55-D462-48B9-B79E-3A8ADE996CD1}" type="sibTrans" cxnId="{08180DCC-9C87-4F91-9DD1-0AC1281587AD}">
      <dgm:prSet/>
      <dgm:spPr/>
      <dgm:t>
        <a:bodyPr/>
        <a:lstStyle/>
        <a:p>
          <a:endParaRPr lang="en-IN">
            <a:latin typeface="Helvetica" pitchFamily="2" charset="0"/>
          </a:endParaRPr>
        </a:p>
      </dgm:t>
    </dgm:pt>
    <dgm:pt modelId="{31253AAD-78C2-40E8-B443-C635ACE422BF}">
      <dgm:prSet custT="1"/>
      <dgm:spPr>
        <a:solidFill>
          <a:schemeClr val="bg2"/>
        </a:solidFill>
        <a:ln w="28575">
          <a:solidFill>
            <a:schemeClr val="accent1"/>
          </a:solidFill>
          <a:prstDash val="sysDash"/>
        </a:ln>
      </dgm:spPr>
      <dgm:t>
        <a:bodyPr/>
        <a:lstStyle/>
        <a:p>
          <a:r>
            <a:rPr lang="en-IN" sz="1200">
              <a:solidFill>
                <a:schemeClr val="accent1"/>
              </a:solidFill>
              <a:latin typeface="Helvetica" pitchFamily="2" charset="0"/>
            </a:rPr>
            <a:t>Number of Products</a:t>
          </a:r>
        </a:p>
      </dgm:t>
    </dgm:pt>
    <dgm:pt modelId="{9F6AA203-A461-4B0D-A490-D3D7E6DB7B01}" type="parTrans" cxnId="{52F3AFE9-5CA6-4DAA-B908-BC85B3C535CA}">
      <dgm:prSet/>
      <dgm:spPr/>
      <dgm:t>
        <a:bodyPr/>
        <a:lstStyle/>
        <a:p>
          <a:endParaRPr lang="en-IN">
            <a:latin typeface="Helvetica" pitchFamily="2" charset="0"/>
          </a:endParaRPr>
        </a:p>
      </dgm:t>
    </dgm:pt>
    <dgm:pt modelId="{3975AC96-19E1-448F-AE88-2B3C68320FB2}" type="sibTrans" cxnId="{52F3AFE9-5CA6-4DAA-B908-BC85B3C535CA}">
      <dgm:prSet/>
      <dgm:spPr/>
    </dgm:pt>
    <dgm:pt modelId="{83D1192B-3756-4B55-A5BF-CA00B80E9817}">
      <dgm:prSet/>
      <dgm:spPr>
        <a:solidFill>
          <a:srgbClr val="FF0000"/>
        </a:solidFill>
      </dgm:spPr>
      <dgm:t>
        <a:bodyPr/>
        <a:lstStyle/>
        <a:p>
          <a:r>
            <a:rPr lang="en-IN" b="1" dirty="0">
              <a:latin typeface="Helvetica" pitchFamily="2" charset="0"/>
            </a:rPr>
            <a:t>Risky – 4 products</a:t>
          </a:r>
        </a:p>
      </dgm:t>
    </dgm:pt>
    <dgm:pt modelId="{BC08A35A-89C7-448D-8E63-317E08CD3654}" type="parTrans" cxnId="{CE74263D-C27B-4C95-A0F6-2CF4273A3214}">
      <dgm:prSet/>
      <dgm:spPr/>
      <dgm:t>
        <a:bodyPr/>
        <a:lstStyle/>
        <a:p>
          <a:endParaRPr lang="en-IN">
            <a:latin typeface="Helvetica" pitchFamily="2" charset="0"/>
          </a:endParaRPr>
        </a:p>
      </dgm:t>
    </dgm:pt>
    <dgm:pt modelId="{D01657B4-E514-46B7-A81A-F2DA6317C2FC}" type="sibTrans" cxnId="{CE74263D-C27B-4C95-A0F6-2CF4273A3214}">
      <dgm:prSet/>
      <dgm:spPr/>
      <dgm:t>
        <a:bodyPr/>
        <a:lstStyle/>
        <a:p>
          <a:endParaRPr lang="en-IN">
            <a:latin typeface="Helvetica" pitchFamily="2" charset="0"/>
          </a:endParaRPr>
        </a:p>
      </dgm:t>
    </dgm:pt>
    <dgm:pt modelId="{9B55265A-7088-414E-A13C-6AB7CFE18D4A}">
      <dgm:prSet/>
      <dgm:spPr>
        <a:solidFill>
          <a:schemeClr val="accent5"/>
        </a:solidFill>
      </dgm:spPr>
      <dgm:t>
        <a:bodyPr/>
        <a:lstStyle/>
        <a:p>
          <a:r>
            <a:rPr lang="en-IN" b="1" dirty="0">
              <a:latin typeface="Helvetica" pitchFamily="2" charset="0"/>
            </a:rPr>
            <a:t>Safe – 2 products</a:t>
          </a:r>
        </a:p>
      </dgm:t>
    </dgm:pt>
    <dgm:pt modelId="{C7F17736-8140-4885-AAE8-3276CC53FE41}" type="parTrans" cxnId="{412BB527-4978-4E5D-991A-1F89E5E308B2}">
      <dgm:prSet/>
      <dgm:spPr/>
      <dgm:t>
        <a:bodyPr/>
        <a:lstStyle/>
        <a:p>
          <a:endParaRPr lang="en-IN">
            <a:latin typeface="Helvetica" pitchFamily="2" charset="0"/>
          </a:endParaRPr>
        </a:p>
      </dgm:t>
    </dgm:pt>
    <dgm:pt modelId="{020E6B4D-0C9F-4BF3-9494-D2F8A1A9AAE4}" type="sibTrans" cxnId="{412BB527-4978-4E5D-991A-1F89E5E308B2}">
      <dgm:prSet/>
      <dgm:spPr/>
      <dgm:t>
        <a:bodyPr/>
        <a:lstStyle/>
        <a:p>
          <a:endParaRPr lang="en-IN">
            <a:latin typeface="Helvetica" pitchFamily="2" charset="0"/>
          </a:endParaRPr>
        </a:p>
      </dgm:t>
    </dgm:pt>
    <dgm:pt modelId="{43E11716-C572-40EA-B92F-21B1247E3AA2}">
      <dgm:prSet custT="1"/>
      <dgm:spPr>
        <a:solidFill>
          <a:schemeClr val="bg2"/>
        </a:solidFill>
        <a:ln w="28575">
          <a:solidFill>
            <a:schemeClr val="accent1"/>
          </a:solidFill>
          <a:prstDash val="sysDash"/>
        </a:ln>
      </dgm:spPr>
      <dgm:t>
        <a:bodyPr/>
        <a:lstStyle/>
        <a:p>
          <a:r>
            <a:rPr lang="en-IN" sz="1200" dirty="0">
              <a:solidFill>
                <a:schemeClr val="accent1"/>
              </a:solidFill>
              <a:latin typeface="Helvetica" pitchFamily="2" charset="0"/>
            </a:rPr>
            <a:t>Age Group </a:t>
          </a:r>
        </a:p>
      </dgm:t>
    </dgm:pt>
    <dgm:pt modelId="{E659A925-7A9A-47EE-BBEF-CDC5EB6A96DD}" type="parTrans" cxnId="{804230BC-E5B2-4D63-930E-9B8C6A38B698}">
      <dgm:prSet/>
      <dgm:spPr/>
      <dgm:t>
        <a:bodyPr/>
        <a:lstStyle/>
        <a:p>
          <a:endParaRPr lang="en-IN">
            <a:latin typeface="Helvetica" pitchFamily="2" charset="0"/>
          </a:endParaRPr>
        </a:p>
      </dgm:t>
    </dgm:pt>
    <dgm:pt modelId="{C5AEDF79-CB9C-42F6-8DA3-7EC1353AFF99}" type="sibTrans" cxnId="{804230BC-E5B2-4D63-930E-9B8C6A38B698}">
      <dgm:prSet/>
      <dgm:spPr/>
      <dgm:t>
        <a:bodyPr/>
        <a:lstStyle/>
        <a:p>
          <a:endParaRPr lang="en-IN">
            <a:latin typeface="Helvetica" pitchFamily="2" charset="0"/>
          </a:endParaRPr>
        </a:p>
      </dgm:t>
    </dgm:pt>
    <dgm:pt modelId="{3D8D134A-925D-468D-8C6D-546F1D1AB211}">
      <dgm:prSet/>
      <dgm:spPr>
        <a:solidFill>
          <a:srgbClr val="FF0000"/>
        </a:solidFill>
      </dgm:spPr>
      <dgm:t>
        <a:bodyPr/>
        <a:lstStyle/>
        <a:p>
          <a:r>
            <a:rPr lang="en-IN" b="1" dirty="0">
              <a:latin typeface="Helvetica" pitchFamily="2" charset="0"/>
            </a:rPr>
            <a:t>Risky – Senior Citizens (50+)</a:t>
          </a:r>
        </a:p>
      </dgm:t>
    </dgm:pt>
    <dgm:pt modelId="{C0A1B72C-4A74-47C5-8155-683432F9A609}" type="parTrans" cxnId="{ED2CBB82-4C2D-4384-8960-C9FDA2E2A732}">
      <dgm:prSet/>
      <dgm:spPr/>
      <dgm:t>
        <a:bodyPr/>
        <a:lstStyle/>
        <a:p>
          <a:endParaRPr lang="en-IN">
            <a:latin typeface="Helvetica" pitchFamily="2" charset="0"/>
          </a:endParaRPr>
        </a:p>
      </dgm:t>
    </dgm:pt>
    <dgm:pt modelId="{8D4CA57F-3D7A-490D-ABE3-65BB1012F27E}" type="sibTrans" cxnId="{ED2CBB82-4C2D-4384-8960-C9FDA2E2A732}">
      <dgm:prSet/>
      <dgm:spPr/>
      <dgm:t>
        <a:bodyPr/>
        <a:lstStyle/>
        <a:p>
          <a:endParaRPr lang="en-IN">
            <a:latin typeface="Helvetica" pitchFamily="2" charset="0"/>
          </a:endParaRPr>
        </a:p>
      </dgm:t>
    </dgm:pt>
    <dgm:pt modelId="{AC531355-88A3-4949-97FB-01D4C3EB96B7}">
      <dgm:prSet/>
      <dgm:spPr>
        <a:solidFill>
          <a:schemeClr val="accent5"/>
        </a:solidFill>
      </dgm:spPr>
      <dgm:t>
        <a:bodyPr/>
        <a:lstStyle/>
        <a:p>
          <a:r>
            <a:rPr lang="en-IN" b="1">
              <a:latin typeface="Helvetica" pitchFamily="2" charset="0"/>
            </a:rPr>
            <a:t>Safe – Young Adults (18-30)</a:t>
          </a:r>
        </a:p>
      </dgm:t>
    </dgm:pt>
    <dgm:pt modelId="{4170AB5E-B82D-492F-8902-F7F278B13E34}" type="parTrans" cxnId="{D46E5B93-0F05-4640-A9F9-9B7BD09A836A}">
      <dgm:prSet/>
      <dgm:spPr/>
      <dgm:t>
        <a:bodyPr/>
        <a:lstStyle/>
        <a:p>
          <a:endParaRPr lang="en-IN">
            <a:latin typeface="Helvetica" pitchFamily="2" charset="0"/>
          </a:endParaRPr>
        </a:p>
      </dgm:t>
    </dgm:pt>
    <dgm:pt modelId="{C10BEF29-DB1A-44D8-8784-DA1A8CCEAD32}" type="sibTrans" cxnId="{D46E5B93-0F05-4640-A9F9-9B7BD09A836A}">
      <dgm:prSet/>
      <dgm:spPr/>
      <dgm:t>
        <a:bodyPr/>
        <a:lstStyle/>
        <a:p>
          <a:endParaRPr lang="en-IN">
            <a:latin typeface="Helvetica" pitchFamily="2" charset="0"/>
          </a:endParaRPr>
        </a:p>
      </dgm:t>
    </dgm:pt>
    <dgm:pt modelId="{B7E2F016-E063-4962-AAB2-32D7EBE406FB}">
      <dgm:prSet custT="1"/>
      <dgm:spPr>
        <a:solidFill>
          <a:schemeClr val="bg2"/>
        </a:solidFill>
        <a:ln w="28575">
          <a:solidFill>
            <a:schemeClr val="accent1"/>
          </a:solidFill>
          <a:prstDash val="sysDash"/>
        </a:ln>
      </dgm:spPr>
      <dgm:t>
        <a:bodyPr/>
        <a:lstStyle/>
        <a:p>
          <a:r>
            <a:rPr lang="en-IN" sz="1200">
              <a:solidFill>
                <a:schemeClr val="accent1"/>
              </a:solidFill>
              <a:latin typeface="Helvetica" pitchFamily="2" charset="0"/>
            </a:rPr>
            <a:t>Location </a:t>
          </a:r>
        </a:p>
      </dgm:t>
    </dgm:pt>
    <dgm:pt modelId="{7E9C48DB-2536-4808-8040-D844DBCFBADC}" type="parTrans" cxnId="{EE2BF7CA-83CE-4D27-9931-48A72D2D86EF}">
      <dgm:prSet/>
      <dgm:spPr/>
      <dgm:t>
        <a:bodyPr/>
        <a:lstStyle/>
        <a:p>
          <a:endParaRPr lang="en-IN">
            <a:latin typeface="Helvetica" pitchFamily="2" charset="0"/>
          </a:endParaRPr>
        </a:p>
      </dgm:t>
    </dgm:pt>
    <dgm:pt modelId="{37484F41-653F-43B3-BC61-1C33C01C7791}" type="sibTrans" cxnId="{EE2BF7CA-83CE-4D27-9931-48A72D2D86EF}">
      <dgm:prSet/>
      <dgm:spPr/>
    </dgm:pt>
    <dgm:pt modelId="{DC8F9498-B82A-4F52-B7E4-A3D2C738C633}">
      <dgm:prSet/>
      <dgm:spPr>
        <a:solidFill>
          <a:srgbClr val="FF0000"/>
        </a:solidFill>
      </dgm:spPr>
      <dgm:t>
        <a:bodyPr/>
        <a:lstStyle/>
        <a:p>
          <a:r>
            <a:rPr lang="en-IN" b="1">
              <a:latin typeface="Helvetica" pitchFamily="2" charset="0"/>
            </a:rPr>
            <a:t>Risky – Germany</a:t>
          </a:r>
        </a:p>
      </dgm:t>
    </dgm:pt>
    <dgm:pt modelId="{9EC0618A-A7A8-4FD7-AD62-2E9FB51A5AE5}" type="parTrans" cxnId="{F76DB553-1B2E-4038-8F25-D8EACC038109}">
      <dgm:prSet/>
      <dgm:spPr/>
      <dgm:t>
        <a:bodyPr/>
        <a:lstStyle/>
        <a:p>
          <a:endParaRPr lang="en-IN">
            <a:latin typeface="Helvetica" pitchFamily="2" charset="0"/>
          </a:endParaRPr>
        </a:p>
      </dgm:t>
    </dgm:pt>
    <dgm:pt modelId="{AD3EFB2E-C73B-4D1A-B32E-AE7F8F4ACF99}" type="sibTrans" cxnId="{F76DB553-1B2E-4038-8F25-D8EACC038109}">
      <dgm:prSet/>
      <dgm:spPr/>
      <dgm:t>
        <a:bodyPr/>
        <a:lstStyle/>
        <a:p>
          <a:endParaRPr lang="en-IN">
            <a:latin typeface="Helvetica" pitchFamily="2" charset="0"/>
          </a:endParaRPr>
        </a:p>
      </dgm:t>
    </dgm:pt>
    <dgm:pt modelId="{9CDADE19-C00D-43DE-A519-27B300D8880A}">
      <dgm:prSet/>
      <dgm:spPr>
        <a:solidFill>
          <a:schemeClr val="accent5"/>
        </a:solidFill>
      </dgm:spPr>
      <dgm:t>
        <a:bodyPr/>
        <a:lstStyle/>
        <a:p>
          <a:r>
            <a:rPr lang="en-IN" b="1">
              <a:latin typeface="Helvetica" pitchFamily="2" charset="0"/>
            </a:rPr>
            <a:t>Safe – France </a:t>
          </a:r>
        </a:p>
      </dgm:t>
    </dgm:pt>
    <dgm:pt modelId="{61001451-3990-49AE-AC33-130E501A6280}" type="parTrans" cxnId="{E940289D-8094-4283-BF35-C1A3C1D91242}">
      <dgm:prSet/>
      <dgm:spPr/>
      <dgm:t>
        <a:bodyPr/>
        <a:lstStyle/>
        <a:p>
          <a:endParaRPr lang="en-IN">
            <a:latin typeface="Helvetica" pitchFamily="2" charset="0"/>
          </a:endParaRPr>
        </a:p>
      </dgm:t>
    </dgm:pt>
    <dgm:pt modelId="{CB95BB91-5B5A-4AD8-923B-4D65F3AE6CB4}" type="sibTrans" cxnId="{E940289D-8094-4283-BF35-C1A3C1D91242}">
      <dgm:prSet/>
      <dgm:spPr/>
      <dgm:t>
        <a:bodyPr/>
        <a:lstStyle/>
        <a:p>
          <a:endParaRPr lang="en-IN">
            <a:latin typeface="Helvetica" pitchFamily="2" charset="0"/>
          </a:endParaRPr>
        </a:p>
      </dgm:t>
    </dgm:pt>
    <dgm:pt modelId="{149DDD2F-58A6-4634-A12D-B6214AB1AD17}">
      <dgm:prSet custT="1"/>
      <dgm:spPr>
        <a:solidFill>
          <a:schemeClr val="bg2"/>
        </a:solidFill>
        <a:ln w="28575">
          <a:solidFill>
            <a:schemeClr val="accent1"/>
          </a:solidFill>
          <a:prstDash val="sysDash"/>
        </a:ln>
      </dgm:spPr>
      <dgm:t>
        <a:bodyPr/>
        <a:lstStyle/>
        <a:p>
          <a:r>
            <a:rPr lang="en-IN" sz="1200">
              <a:solidFill>
                <a:schemeClr val="accent1"/>
              </a:solidFill>
              <a:latin typeface="Helvetica" pitchFamily="2" charset="0"/>
            </a:rPr>
            <a:t>User Activity</a:t>
          </a:r>
        </a:p>
      </dgm:t>
    </dgm:pt>
    <dgm:pt modelId="{09DD16C9-E38B-4CF4-8164-4E7DFCFEBE88}" type="parTrans" cxnId="{F46889FF-D9FD-4131-A1AD-673707A0E9BB}">
      <dgm:prSet/>
      <dgm:spPr/>
      <dgm:t>
        <a:bodyPr/>
        <a:lstStyle/>
        <a:p>
          <a:endParaRPr lang="en-IN">
            <a:latin typeface="Helvetica" pitchFamily="2" charset="0"/>
          </a:endParaRPr>
        </a:p>
      </dgm:t>
    </dgm:pt>
    <dgm:pt modelId="{5928903A-D5E0-4743-A695-C984D59631A6}" type="sibTrans" cxnId="{F46889FF-D9FD-4131-A1AD-673707A0E9BB}">
      <dgm:prSet/>
      <dgm:spPr/>
      <dgm:t>
        <a:bodyPr/>
        <a:lstStyle/>
        <a:p>
          <a:endParaRPr lang="en-IN">
            <a:latin typeface="Helvetica" pitchFamily="2" charset="0"/>
          </a:endParaRPr>
        </a:p>
      </dgm:t>
    </dgm:pt>
    <dgm:pt modelId="{B0D9D994-804B-4C83-9A9D-E82644A4FBD0}">
      <dgm:prSet/>
      <dgm:spPr>
        <a:solidFill>
          <a:srgbClr val="FF0000"/>
        </a:solidFill>
      </dgm:spPr>
      <dgm:t>
        <a:bodyPr/>
        <a:lstStyle/>
        <a:p>
          <a:r>
            <a:rPr lang="en-IN" b="1">
              <a:latin typeface="Helvetica" pitchFamily="2" charset="0"/>
            </a:rPr>
            <a:t>Risky – Inactive</a:t>
          </a:r>
        </a:p>
      </dgm:t>
    </dgm:pt>
    <dgm:pt modelId="{547F2E6E-3CC5-4A2A-8478-DC6FD97888F2}" type="parTrans" cxnId="{F726720D-304D-410C-A81B-CA7DEF24BE6D}">
      <dgm:prSet/>
      <dgm:spPr/>
      <dgm:t>
        <a:bodyPr/>
        <a:lstStyle/>
        <a:p>
          <a:endParaRPr lang="en-IN">
            <a:latin typeface="Helvetica" pitchFamily="2" charset="0"/>
          </a:endParaRPr>
        </a:p>
      </dgm:t>
    </dgm:pt>
    <dgm:pt modelId="{7FC0FABB-4FD4-4CA2-8FBF-7FF38C051C9F}" type="sibTrans" cxnId="{F726720D-304D-410C-A81B-CA7DEF24BE6D}">
      <dgm:prSet/>
      <dgm:spPr/>
      <dgm:t>
        <a:bodyPr/>
        <a:lstStyle/>
        <a:p>
          <a:endParaRPr lang="en-IN">
            <a:latin typeface="Helvetica" pitchFamily="2" charset="0"/>
          </a:endParaRPr>
        </a:p>
      </dgm:t>
    </dgm:pt>
    <dgm:pt modelId="{0F056C56-F07A-4AAB-B5A4-CFDAD991CB3D}">
      <dgm:prSet/>
      <dgm:spPr>
        <a:solidFill>
          <a:schemeClr val="accent5"/>
        </a:solidFill>
      </dgm:spPr>
      <dgm:t>
        <a:bodyPr/>
        <a:lstStyle/>
        <a:p>
          <a:r>
            <a:rPr lang="en-IN" b="1">
              <a:latin typeface="Helvetica" pitchFamily="2" charset="0"/>
            </a:rPr>
            <a:t>Safe – Active</a:t>
          </a:r>
        </a:p>
      </dgm:t>
    </dgm:pt>
    <dgm:pt modelId="{E42F3341-23E9-4C25-9C7B-216CCD636793}" type="parTrans" cxnId="{69381C81-E39D-4E56-B5A6-8FE8BBB71C01}">
      <dgm:prSet/>
      <dgm:spPr/>
      <dgm:t>
        <a:bodyPr/>
        <a:lstStyle/>
        <a:p>
          <a:endParaRPr lang="en-IN">
            <a:latin typeface="Helvetica" pitchFamily="2" charset="0"/>
          </a:endParaRPr>
        </a:p>
      </dgm:t>
    </dgm:pt>
    <dgm:pt modelId="{86BC347A-8F2D-403E-8705-CD84FDA6E93C}" type="sibTrans" cxnId="{69381C81-E39D-4E56-B5A6-8FE8BBB71C01}">
      <dgm:prSet/>
      <dgm:spPr/>
      <dgm:t>
        <a:bodyPr/>
        <a:lstStyle/>
        <a:p>
          <a:endParaRPr lang="en-IN">
            <a:latin typeface="Helvetica" pitchFamily="2" charset="0"/>
          </a:endParaRPr>
        </a:p>
      </dgm:t>
    </dgm:pt>
    <dgm:pt modelId="{4E976C21-2E9A-4DCF-BC95-8C5C15DC7310}">
      <dgm:prSet custT="1"/>
      <dgm:spPr>
        <a:solidFill>
          <a:schemeClr val="bg2"/>
        </a:solidFill>
        <a:ln w="28575">
          <a:solidFill>
            <a:schemeClr val="accent1"/>
          </a:solidFill>
          <a:prstDash val="sysDash"/>
        </a:ln>
      </dgm:spPr>
      <dgm:t>
        <a:bodyPr/>
        <a:lstStyle/>
        <a:p>
          <a:r>
            <a:rPr lang="en-IN" sz="1200">
              <a:solidFill>
                <a:schemeClr val="accent1"/>
              </a:solidFill>
              <a:latin typeface="Helvetica" pitchFamily="2" charset="0"/>
            </a:rPr>
            <a:t>Gender </a:t>
          </a:r>
        </a:p>
      </dgm:t>
    </dgm:pt>
    <dgm:pt modelId="{8BB85B57-82B1-4CAC-BA2A-60FB01280D1B}" type="parTrans" cxnId="{172105D8-7E49-49C7-8108-CD10BAAEE336}">
      <dgm:prSet/>
      <dgm:spPr/>
      <dgm:t>
        <a:bodyPr/>
        <a:lstStyle/>
        <a:p>
          <a:endParaRPr lang="en-IN">
            <a:latin typeface="Helvetica" pitchFamily="2" charset="0"/>
          </a:endParaRPr>
        </a:p>
      </dgm:t>
    </dgm:pt>
    <dgm:pt modelId="{0791C720-7C9D-4A88-BC36-A07EE735040C}" type="sibTrans" cxnId="{172105D8-7E49-49C7-8108-CD10BAAEE336}">
      <dgm:prSet/>
      <dgm:spPr/>
    </dgm:pt>
    <dgm:pt modelId="{2ECE0A34-57F8-48E8-BA2C-A1CBEA24B3B5}">
      <dgm:prSet/>
      <dgm:spPr>
        <a:solidFill>
          <a:srgbClr val="FF0000"/>
        </a:solidFill>
      </dgm:spPr>
      <dgm:t>
        <a:bodyPr/>
        <a:lstStyle/>
        <a:p>
          <a:r>
            <a:rPr lang="en-IN" b="1">
              <a:latin typeface="Helvetica" pitchFamily="2" charset="0"/>
            </a:rPr>
            <a:t>Risky – Female</a:t>
          </a:r>
        </a:p>
      </dgm:t>
    </dgm:pt>
    <dgm:pt modelId="{C24EDFFC-9F39-45F7-8A8E-63270DD153E2}" type="parTrans" cxnId="{9E4C354F-2569-49B9-94A1-D22F82C90EA5}">
      <dgm:prSet/>
      <dgm:spPr/>
      <dgm:t>
        <a:bodyPr/>
        <a:lstStyle/>
        <a:p>
          <a:endParaRPr lang="en-IN">
            <a:latin typeface="Helvetica" pitchFamily="2" charset="0"/>
          </a:endParaRPr>
        </a:p>
      </dgm:t>
    </dgm:pt>
    <dgm:pt modelId="{294F1E5A-7EB0-45AB-8B2C-1F68DE6D6797}" type="sibTrans" cxnId="{9E4C354F-2569-49B9-94A1-D22F82C90EA5}">
      <dgm:prSet/>
      <dgm:spPr/>
      <dgm:t>
        <a:bodyPr/>
        <a:lstStyle/>
        <a:p>
          <a:endParaRPr lang="en-IN">
            <a:latin typeface="Helvetica" pitchFamily="2" charset="0"/>
          </a:endParaRPr>
        </a:p>
      </dgm:t>
    </dgm:pt>
    <dgm:pt modelId="{185F8177-93C6-4960-B174-61FCCDB93E41}">
      <dgm:prSet/>
      <dgm:spPr>
        <a:solidFill>
          <a:schemeClr val="accent5"/>
        </a:solidFill>
      </dgm:spPr>
      <dgm:t>
        <a:bodyPr/>
        <a:lstStyle/>
        <a:p>
          <a:r>
            <a:rPr lang="en-IN" b="1">
              <a:latin typeface="Helvetica" pitchFamily="2" charset="0"/>
            </a:rPr>
            <a:t>Safe – Male</a:t>
          </a:r>
        </a:p>
      </dgm:t>
    </dgm:pt>
    <dgm:pt modelId="{DCEA3C73-A17C-4915-88A2-050A38086F2D}" type="parTrans" cxnId="{98257495-146B-421B-8564-7CCBB4C2B17D}">
      <dgm:prSet/>
      <dgm:spPr/>
      <dgm:t>
        <a:bodyPr/>
        <a:lstStyle/>
        <a:p>
          <a:endParaRPr lang="en-IN">
            <a:latin typeface="Helvetica" pitchFamily="2" charset="0"/>
          </a:endParaRPr>
        </a:p>
      </dgm:t>
    </dgm:pt>
    <dgm:pt modelId="{F0A3B7EC-980E-4B1F-9A9B-0E754AE68B79}" type="sibTrans" cxnId="{98257495-146B-421B-8564-7CCBB4C2B17D}">
      <dgm:prSet/>
      <dgm:spPr/>
      <dgm:t>
        <a:bodyPr/>
        <a:lstStyle/>
        <a:p>
          <a:endParaRPr lang="en-IN">
            <a:latin typeface="Helvetica" pitchFamily="2" charset="0"/>
          </a:endParaRPr>
        </a:p>
      </dgm:t>
    </dgm:pt>
    <dgm:pt modelId="{78DB1E59-EFEE-49B9-A075-0E3EF8D2F559}" type="pres">
      <dgm:prSet presAssocID="{89BBC93F-4FFD-4F94-912C-CB2CAB0089A8}" presName="mainComposite" presStyleCnt="0">
        <dgm:presLayoutVars>
          <dgm:chPref val="1"/>
          <dgm:dir/>
          <dgm:animOne val="branch"/>
          <dgm:animLvl val="lvl"/>
          <dgm:resizeHandles val="exact"/>
        </dgm:presLayoutVars>
      </dgm:prSet>
      <dgm:spPr/>
      <dgm:t>
        <a:bodyPr/>
        <a:lstStyle/>
        <a:p>
          <a:endParaRPr lang="en-US"/>
        </a:p>
      </dgm:t>
    </dgm:pt>
    <dgm:pt modelId="{5ADD4455-A519-4B1D-BA7A-1D5CBB1DEA62}" type="pres">
      <dgm:prSet presAssocID="{89BBC93F-4FFD-4F94-912C-CB2CAB0089A8}" presName="hierFlow" presStyleCnt="0"/>
      <dgm:spPr/>
    </dgm:pt>
    <dgm:pt modelId="{D03B7BF5-9208-4F24-A662-D4BC0E7500DB}" type="pres">
      <dgm:prSet presAssocID="{89BBC93F-4FFD-4F94-912C-CB2CAB0089A8}" presName="hierChild1" presStyleCnt="0">
        <dgm:presLayoutVars>
          <dgm:chPref val="1"/>
          <dgm:animOne val="branch"/>
          <dgm:animLvl val="lvl"/>
        </dgm:presLayoutVars>
      </dgm:prSet>
      <dgm:spPr/>
    </dgm:pt>
    <dgm:pt modelId="{AC407DA0-4513-4D29-A940-EB29BEE12D14}" type="pres">
      <dgm:prSet presAssocID="{0ECCCE8B-F06A-4645-927A-90FC0B9BF3EA}" presName="Name14" presStyleCnt="0"/>
      <dgm:spPr/>
    </dgm:pt>
    <dgm:pt modelId="{2C0E5CED-8709-48B4-B1DC-9EEE977125A7}" type="pres">
      <dgm:prSet presAssocID="{0ECCCE8B-F06A-4645-927A-90FC0B9BF3EA}" presName="level1Shape" presStyleLbl="node0" presStyleIdx="0" presStyleCnt="1" custScaleX="222820" custScaleY="193493">
        <dgm:presLayoutVars>
          <dgm:chPref val="3"/>
        </dgm:presLayoutVars>
      </dgm:prSet>
      <dgm:spPr/>
      <dgm:t>
        <a:bodyPr/>
        <a:lstStyle/>
        <a:p>
          <a:endParaRPr lang="en-US"/>
        </a:p>
      </dgm:t>
    </dgm:pt>
    <dgm:pt modelId="{CD27FCA3-86FA-4E37-9766-DD43126D80DF}" type="pres">
      <dgm:prSet presAssocID="{0ECCCE8B-F06A-4645-927A-90FC0B9BF3EA}" presName="hierChild2" presStyleCnt="0"/>
      <dgm:spPr/>
    </dgm:pt>
    <dgm:pt modelId="{6D4E9007-119F-4749-B7EE-CCE4F4D610D6}" type="pres">
      <dgm:prSet presAssocID="{9F6AA203-A461-4B0D-A490-D3D7E6DB7B01}" presName="Name19" presStyleLbl="parChTrans1D2" presStyleIdx="0" presStyleCnt="5"/>
      <dgm:spPr/>
      <dgm:t>
        <a:bodyPr/>
        <a:lstStyle/>
        <a:p>
          <a:endParaRPr lang="en-US"/>
        </a:p>
      </dgm:t>
    </dgm:pt>
    <dgm:pt modelId="{DE740CA9-06F0-4A90-A67A-60588D45CF4E}" type="pres">
      <dgm:prSet presAssocID="{31253AAD-78C2-40E8-B443-C635ACE422BF}" presName="Name21" presStyleCnt="0"/>
      <dgm:spPr/>
    </dgm:pt>
    <dgm:pt modelId="{C3DE9338-8D3E-4BC9-8643-488966EEBD1F}" type="pres">
      <dgm:prSet presAssocID="{31253AAD-78C2-40E8-B443-C635ACE422BF}" presName="level2Shape" presStyleLbl="node2" presStyleIdx="0" presStyleCnt="5"/>
      <dgm:spPr/>
      <dgm:t>
        <a:bodyPr/>
        <a:lstStyle/>
        <a:p>
          <a:endParaRPr lang="en-US"/>
        </a:p>
      </dgm:t>
    </dgm:pt>
    <dgm:pt modelId="{E7FC4C1B-C0B7-4333-894F-DC8558415834}" type="pres">
      <dgm:prSet presAssocID="{31253AAD-78C2-40E8-B443-C635ACE422BF}" presName="hierChild3" presStyleCnt="0"/>
      <dgm:spPr/>
    </dgm:pt>
    <dgm:pt modelId="{AEE9A6B6-E240-41DA-83B0-9D9296FFBBD9}" type="pres">
      <dgm:prSet presAssocID="{BC08A35A-89C7-448D-8E63-317E08CD3654}" presName="Name19" presStyleLbl="parChTrans1D3" presStyleIdx="0" presStyleCnt="10"/>
      <dgm:spPr/>
      <dgm:t>
        <a:bodyPr/>
        <a:lstStyle/>
        <a:p>
          <a:endParaRPr lang="en-US"/>
        </a:p>
      </dgm:t>
    </dgm:pt>
    <dgm:pt modelId="{B76D4C82-68DA-48C1-89D3-21606A0C9E40}" type="pres">
      <dgm:prSet presAssocID="{83D1192B-3756-4B55-A5BF-CA00B80E9817}" presName="Name21" presStyleCnt="0"/>
      <dgm:spPr/>
    </dgm:pt>
    <dgm:pt modelId="{81C361AB-4651-4CC4-9C11-6165BDABB50D}" type="pres">
      <dgm:prSet presAssocID="{83D1192B-3756-4B55-A5BF-CA00B80E9817}" presName="level2Shape" presStyleLbl="node3" presStyleIdx="0" presStyleCnt="10"/>
      <dgm:spPr/>
      <dgm:t>
        <a:bodyPr/>
        <a:lstStyle/>
        <a:p>
          <a:endParaRPr lang="en-US"/>
        </a:p>
      </dgm:t>
    </dgm:pt>
    <dgm:pt modelId="{38980564-223F-4890-9592-749329851652}" type="pres">
      <dgm:prSet presAssocID="{83D1192B-3756-4B55-A5BF-CA00B80E9817}" presName="hierChild3" presStyleCnt="0"/>
      <dgm:spPr/>
    </dgm:pt>
    <dgm:pt modelId="{611C3D41-0BB0-4A35-BCB3-D195C1FBB310}" type="pres">
      <dgm:prSet presAssocID="{C7F17736-8140-4885-AAE8-3276CC53FE41}" presName="Name19" presStyleLbl="parChTrans1D3" presStyleIdx="1" presStyleCnt="10"/>
      <dgm:spPr/>
      <dgm:t>
        <a:bodyPr/>
        <a:lstStyle/>
        <a:p>
          <a:endParaRPr lang="en-US"/>
        </a:p>
      </dgm:t>
    </dgm:pt>
    <dgm:pt modelId="{95D6BFA6-397C-4748-9062-A7D7781D8D38}" type="pres">
      <dgm:prSet presAssocID="{9B55265A-7088-414E-A13C-6AB7CFE18D4A}" presName="Name21" presStyleCnt="0"/>
      <dgm:spPr/>
    </dgm:pt>
    <dgm:pt modelId="{FCFD86BB-C52F-421D-B8CD-A14E6A1440C1}" type="pres">
      <dgm:prSet presAssocID="{9B55265A-7088-414E-A13C-6AB7CFE18D4A}" presName="level2Shape" presStyleLbl="node3" presStyleIdx="1" presStyleCnt="10"/>
      <dgm:spPr/>
      <dgm:t>
        <a:bodyPr/>
        <a:lstStyle/>
        <a:p>
          <a:endParaRPr lang="en-US"/>
        </a:p>
      </dgm:t>
    </dgm:pt>
    <dgm:pt modelId="{FF5334B0-DF63-4E8D-9E4A-EB3BF05C3B3E}" type="pres">
      <dgm:prSet presAssocID="{9B55265A-7088-414E-A13C-6AB7CFE18D4A}" presName="hierChild3" presStyleCnt="0"/>
      <dgm:spPr/>
    </dgm:pt>
    <dgm:pt modelId="{8C7AC658-D7AD-4B8E-819C-50DCE8013BF7}" type="pres">
      <dgm:prSet presAssocID="{E659A925-7A9A-47EE-BBEF-CDC5EB6A96DD}" presName="Name19" presStyleLbl="parChTrans1D2" presStyleIdx="1" presStyleCnt="5"/>
      <dgm:spPr/>
      <dgm:t>
        <a:bodyPr/>
        <a:lstStyle/>
        <a:p>
          <a:endParaRPr lang="en-US"/>
        </a:p>
      </dgm:t>
    </dgm:pt>
    <dgm:pt modelId="{61C9A4F1-1D56-43A0-B22E-88230DFDD69C}" type="pres">
      <dgm:prSet presAssocID="{43E11716-C572-40EA-B92F-21B1247E3AA2}" presName="Name21" presStyleCnt="0"/>
      <dgm:spPr/>
    </dgm:pt>
    <dgm:pt modelId="{EFAE39A6-3588-4410-A678-1B41C2102585}" type="pres">
      <dgm:prSet presAssocID="{43E11716-C572-40EA-B92F-21B1247E3AA2}" presName="level2Shape" presStyleLbl="node2" presStyleIdx="1" presStyleCnt="5"/>
      <dgm:spPr/>
      <dgm:t>
        <a:bodyPr/>
        <a:lstStyle/>
        <a:p>
          <a:endParaRPr lang="en-US"/>
        </a:p>
      </dgm:t>
    </dgm:pt>
    <dgm:pt modelId="{CFF97D7C-F5CF-4778-9663-82E2A2ADC10C}" type="pres">
      <dgm:prSet presAssocID="{43E11716-C572-40EA-B92F-21B1247E3AA2}" presName="hierChild3" presStyleCnt="0"/>
      <dgm:spPr/>
    </dgm:pt>
    <dgm:pt modelId="{F2C7E39E-1CDF-4516-A3C0-76E175F21F3C}" type="pres">
      <dgm:prSet presAssocID="{C0A1B72C-4A74-47C5-8155-683432F9A609}" presName="Name19" presStyleLbl="parChTrans1D3" presStyleIdx="2" presStyleCnt="10"/>
      <dgm:spPr/>
      <dgm:t>
        <a:bodyPr/>
        <a:lstStyle/>
        <a:p>
          <a:endParaRPr lang="en-US"/>
        </a:p>
      </dgm:t>
    </dgm:pt>
    <dgm:pt modelId="{58109948-F3B4-4A9E-94B9-FD01CC01CA58}" type="pres">
      <dgm:prSet presAssocID="{3D8D134A-925D-468D-8C6D-546F1D1AB211}" presName="Name21" presStyleCnt="0"/>
      <dgm:spPr/>
    </dgm:pt>
    <dgm:pt modelId="{1D403B9C-BFF1-40B4-8437-0641824C3D81}" type="pres">
      <dgm:prSet presAssocID="{3D8D134A-925D-468D-8C6D-546F1D1AB211}" presName="level2Shape" presStyleLbl="node3" presStyleIdx="2" presStyleCnt="10"/>
      <dgm:spPr/>
      <dgm:t>
        <a:bodyPr/>
        <a:lstStyle/>
        <a:p>
          <a:endParaRPr lang="en-US"/>
        </a:p>
      </dgm:t>
    </dgm:pt>
    <dgm:pt modelId="{CDD4271F-1B3B-465D-AF70-C97FF60B3E12}" type="pres">
      <dgm:prSet presAssocID="{3D8D134A-925D-468D-8C6D-546F1D1AB211}" presName="hierChild3" presStyleCnt="0"/>
      <dgm:spPr/>
    </dgm:pt>
    <dgm:pt modelId="{B082A2F4-D458-4703-B092-C4978A5EF073}" type="pres">
      <dgm:prSet presAssocID="{4170AB5E-B82D-492F-8902-F7F278B13E34}" presName="Name19" presStyleLbl="parChTrans1D3" presStyleIdx="3" presStyleCnt="10"/>
      <dgm:spPr/>
      <dgm:t>
        <a:bodyPr/>
        <a:lstStyle/>
        <a:p>
          <a:endParaRPr lang="en-US"/>
        </a:p>
      </dgm:t>
    </dgm:pt>
    <dgm:pt modelId="{FA26E423-917E-4CCA-909A-A25BA09F26DB}" type="pres">
      <dgm:prSet presAssocID="{AC531355-88A3-4949-97FB-01D4C3EB96B7}" presName="Name21" presStyleCnt="0"/>
      <dgm:spPr/>
    </dgm:pt>
    <dgm:pt modelId="{726F3CEE-B450-4FD6-A327-89B096C4E23C}" type="pres">
      <dgm:prSet presAssocID="{AC531355-88A3-4949-97FB-01D4C3EB96B7}" presName="level2Shape" presStyleLbl="node3" presStyleIdx="3" presStyleCnt="10"/>
      <dgm:spPr/>
      <dgm:t>
        <a:bodyPr/>
        <a:lstStyle/>
        <a:p>
          <a:endParaRPr lang="en-US"/>
        </a:p>
      </dgm:t>
    </dgm:pt>
    <dgm:pt modelId="{AFD63753-3CA8-4047-84E4-E626BA85A72B}" type="pres">
      <dgm:prSet presAssocID="{AC531355-88A3-4949-97FB-01D4C3EB96B7}" presName="hierChild3" presStyleCnt="0"/>
      <dgm:spPr/>
    </dgm:pt>
    <dgm:pt modelId="{23531883-7BB1-4AF4-AAEF-56069EA40AAA}" type="pres">
      <dgm:prSet presAssocID="{7E9C48DB-2536-4808-8040-D844DBCFBADC}" presName="Name19" presStyleLbl="parChTrans1D2" presStyleIdx="2" presStyleCnt="5"/>
      <dgm:spPr/>
      <dgm:t>
        <a:bodyPr/>
        <a:lstStyle/>
        <a:p>
          <a:endParaRPr lang="en-US"/>
        </a:p>
      </dgm:t>
    </dgm:pt>
    <dgm:pt modelId="{8256981F-C0A6-446C-AD0B-DD6A8F7AFF41}" type="pres">
      <dgm:prSet presAssocID="{B7E2F016-E063-4962-AAB2-32D7EBE406FB}" presName="Name21" presStyleCnt="0"/>
      <dgm:spPr/>
    </dgm:pt>
    <dgm:pt modelId="{9C4E23E1-97E5-482A-8677-E55003B68DEC}" type="pres">
      <dgm:prSet presAssocID="{B7E2F016-E063-4962-AAB2-32D7EBE406FB}" presName="level2Shape" presStyleLbl="node2" presStyleIdx="2" presStyleCnt="5"/>
      <dgm:spPr/>
      <dgm:t>
        <a:bodyPr/>
        <a:lstStyle/>
        <a:p>
          <a:endParaRPr lang="en-US"/>
        </a:p>
      </dgm:t>
    </dgm:pt>
    <dgm:pt modelId="{DA274475-1CFF-47C2-8C38-A46222881471}" type="pres">
      <dgm:prSet presAssocID="{B7E2F016-E063-4962-AAB2-32D7EBE406FB}" presName="hierChild3" presStyleCnt="0"/>
      <dgm:spPr/>
    </dgm:pt>
    <dgm:pt modelId="{21E5417B-9294-4E6B-8F6E-29429E46B3DD}" type="pres">
      <dgm:prSet presAssocID="{9EC0618A-A7A8-4FD7-AD62-2E9FB51A5AE5}" presName="Name19" presStyleLbl="parChTrans1D3" presStyleIdx="4" presStyleCnt="10"/>
      <dgm:spPr/>
      <dgm:t>
        <a:bodyPr/>
        <a:lstStyle/>
        <a:p>
          <a:endParaRPr lang="en-US"/>
        </a:p>
      </dgm:t>
    </dgm:pt>
    <dgm:pt modelId="{A98EBD40-016E-44E0-AD1F-365508C82C7C}" type="pres">
      <dgm:prSet presAssocID="{DC8F9498-B82A-4F52-B7E4-A3D2C738C633}" presName="Name21" presStyleCnt="0"/>
      <dgm:spPr/>
    </dgm:pt>
    <dgm:pt modelId="{94696092-7BFB-4C6E-8B8D-CFF005611B89}" type="pres">
      <dgm:prSet presAssocID="{DC8F9498-B82A-4F52-B7E4-A3D2C738C633}" presName="level2Shape" presStyleLbl="node3" presStyleIdx="4" presStyleCnt="10"/>
      <dgm:spPr/>
      <dgm:t>
        <a:bodyPr/>
        <a:lstStyle/>
        <a:p>
          <a:endParaRPr lang="en-US"/>
        </a:p>
      </dgm:t>
    </dgm:pt>
    <dgm:pt modelId="{AFE20BE5-8EDA-45AB-8C82-44BD62A49CC2}" type="pres">
      <dgm:prSet presAssocID="{DC8F9498-B82A-4F52-B7E4-A3D2C738C633}" presName="hierChild3" presStyleCnt="0"/>
      <dgm:spPr/>
    </dgm:pt>
    <dgm:pt modelId="{4751586E-60B8-4D8C-80C7-9734B1A2E8D3}" type="pres">
      <dgm:prSet presAssocID="{61001451-3990-49AE-AC33-130E501A6280}" presName="Name19" presStyleLbl="parChTrans1D3" presStyleIdx="5" presStyleCnt="10"/>
      <dgm:spPr/>
      <dgm:t>
        <a:bodyPr/>
        <a:lstStyle/>
        <a:p>
          <a:endParaRPr lang="en-US"/>
        </a:p>
      </dgm:t>
    </dgm:pt>
    <dgm:pt modelId="{08F6A425-C430-4E48-9D93-E433B0233391}" type="pres">
      <dgm:prSet presAssocID="{9CDADE19-C00D-43DE-A519-27B300D8880A}" presName="Name21" presStyleCnt="0"/>
      <dgm:spPr/>
    </dgm:pt>
    <dgm:pt modelId="{D4ED9D10-C58B-4221-B595-AF39BA6FE905}" type="pres">
      <dgm:prSet presAssocID="{9CDADE19-C00D-43DE-A519-27B300D8880A}" presName="level2Shape" presStyleLbl="node3" presStyleIdx="5" presStyleCnt="10"/>
      <dgm:spPr/>
      <dgm:t>
        <a:bodyPr/>
        <a:lstStyle/>
        <a:p>
          <a:endParaRPr lang="en-US"/>
        </a:p>
      </dgm:t>
    </dgm:pt>
    <dgm:pt modelId="{B4623A55-5C48-4333-A0AB-E90C54128CA6}" type="pres">
      <dgm:prSet presAssocID="{9CDADE19-C00D-43DE-A519-27B300D8880A}" presName="hierChild3" presStyleCnt="0"/>
      <dgm:spPr/>
    </dgm:pt>
    <dgm:pt modelId="{07E4BE0B-B3C5-4847-9376-2DFA6A2DB9DB}" type="pres">
      <dgm:prSet presAssocID="{09DD16C9-E38B-4CF4-8164-4E7DFCFEBE88}" presName="Name19" presStyleLbl="parChTrans1D2" presStyleIdx="3" presStyleCnt="5"/>
      <dgm:spPr/>
      <dgm:t>
        <a:bodyPr/>
        <a:lstStyle/>
        <a:p>
          <a:endParaRPr lang="en-US"/>
        </a:p>
      </dgm:t>
    </dgm:pt>
    <dgm:pt modelId="{56E3CDB5-C223-40A3-A596-8D5E1D542949}" type="pres">
      <dgm:prSet presAssocID="{149DDD2F-58A6-4634-A12D-B6214AB1AD17}" presName="Name21" presStyleCnt="0"/>
      <dgm:spPr/>
    </dgm:pt>
    <dgm:pt modelId="{83F3F478-DCD2-4933-8DE9-FCB3C5A26C35}" type="pres">
      <dgm:prSet presAssocID="{149DDD2F-58A6-4634-A12D-B6214AB1AD17}" presName="level2Shape" presStyleLbl="node2" presStyleIdx="3" presStyleCnt="5"/>
      <dgm:spPr/>
      <dgm:t>
        <a:bodyPr/>
        <a:lstStyle/>
        <a:p>
          <a:endParaRPr lang="en-US"/>
        </a:p>
      </dgm:t>
    </dgm:pt>
    <dgm:pt modelId="{C0E816CD-2232-43AB-BD8E-D731E641512A}" type="pres">
      <dgm:prSet presAssocID="{149DDD2F-58A6-4634-A12D-B6214AB1AD17}" presName="hierChild3" presStyleCnt="0"/>
      <dgm:spPr/>
    </dgm:pt>
    <dgm:pt modelId="{83EEEEF0-5480-409A-B84F-53606C1B7DFF}" type="pres">
      <dgm:prSet presAssocID="{547F2E6E-3CC5-4A2A-8478-DC6FD97888F2}" presName="Name19" presStyleLbl="parChTrans1D3" presStyleIdx="6" presStyleCnt="10"/>
      <dgm:spPr/>
      <dgm:t>
        <a:bodyPr/>
        <a:lstStyle/>
        <a:p>
          <a:endParaRPr lang="en-US"/>
        </a:p>
      </dgm:t>
    </dgm:pt>
    <dgm:pt modelId="{27645EEF-284A-42EC-A3F8-C97EC6F105B6}" type="pres">
      <dgm:prSet presAssocID="{B0D9D994-804B-4C83-9A9D-E82644A4FBD0}" presName="Name21" presStyleCnt="0"/>
      <dgm:spPr/>
    </dgm:pt>
    <dgm:pt modelId="{0A3E7366-3FF9-452D-8DB3-B8A0223A2C7B}" type="pres">
      <dgm:prSet presAssocID="{B0D9D994-804B-4C83-9A9D-E82644A4FBD0}" presName="level2Shape" presStyleLbl="node3" presStyleIdx="6" presStyleCnt="10"/>
      <dgm:spPr/>
      <dgm:t>
        <a:bodyPr/>
        <a:lstStyle/>
        <a:p>
          <a:endParaRPr lang="en-US"/>
        </a:p>
      </dgm:t>
    </dgm:pt>
    <dgm:pt modelId="{02EC0CE7-EEF3-4BE8-8FC2-4E6F5ED2C975}" type="pres">
      <dgm:prSet presAssocID="{B0D9D994-804B-4C83-9A9D-E82644A4FBD0}" presName="hierChild3" presStyleCnt="0"/>
      <dgm:spPr/>
    </dgm:pt>
    <dgm:pt modelId="{16F97F5A-E14E-44F6-B0A3-0EA1E048B4BC}" type="pres">
      <dgm:prSet presAssocID="{E42F3341-23E9-4C25-9C7B-216CCD636793}" presName="Name19" presStyleLbl="parChTrans1D3" presStyleIdx="7" presStyleCnt="10"/>
      <dgm:spPr/>
      <dgm:t>
        <a:bodyPr/>
        <a:lstStyle/>
        <a:p>
          <a:endParaRPr lang="en-US"/>
        </a:p>
      </dgm:t>
    </dgm:pt>
    <dgm:pt modelId="{24BAE7BB-F083-4161-8F1D-9E250867CF89}" type="pres">
      <dgm:prSet presAssocID="{0F056C56-F07A-4AAB-B5A4-CFDAD991CB3D}" presName="Name21" presStyleCnt="0"/>
      <dgm:spPr/>
    </dgm:pt>
    <dgm:pt modelId="{6BD25873-9DD9-4085-A001-EF79FA3AC609}" type="pres">
      <dgm:prSet presAssocID="{0F056C56-F07A-4AAB-B5A4-CFDAD991CB3D}" presName="level2Shape" presStyleLbl="node3" presStyleIdx="7" presStyleCnt="10"/>
      <dgm:spPr/>
      <dgm:t>
        <a:bodyPr/>
        <a:lstStyle/>
        <a:p>
          <a:endParaRPr lang="en-US"/>
        </a:p>
      </dgm:t>
    </dgm:pt>
    <dgm:pt modelId="{26B5C7BF-EB9D-4F36-81CE-CDC4D0071D1C}" type="pres">
      <dgm:prSet presAssocID="{0F056C56-F07A-4AAB-B5A4-CFDAD991CB3D}" presName="hierChild3" presStyleCnt="0"/>
      <dgm:spPr/>
    </dgm:pt>
    <dgm:pt modelId="{C31AECA8-BE80-4614-8874-E9C998F574A0}" type="pres">
      <dgm:prSet presAssocID="{8BB85B57-82B1-4CAC-BA2A-60FB01280D1B}" presName="Name19" presStyleLbl="parChTrans1D2" presStyleIdx="4" presStyleCnt="5"/>
      <dgm:spPr/>
      <dgm:t>
        <a:bodyPr/>
        <a:lstStyle/>
        <a:p>
          <a:endParaRPr lang="en-US"/>
        </a:p>
      </dgm:t>
    </dgm:pt>
    <dgm:pt modelId="{C5343985-83E8-4D7C-B8EC-352F0A831080}" type="pres">
      <dgm:prSet presAssocID="{4E976C21-2E9A-4DCF-BC95-8C5C15DC7310}" presName="Name21" presStyleCnt="0"/>
      <dgm:spPr/>
    </dgm:pt>
    <dgm:pt modelId="{519505CC-CF99-459B-A098-5A9CEB31097B}" type="pres">
      <dgm:prSet presAssocID="{4E976C21-2E9A-4DCF-BC95-8C5C15DC7310}" presName="level2Shape" presStyleLbl="node2" presStyleIdx="4" presStyleCnt="5"/>
      <dgm:spPr/>
      <dgm:t>
        <a:bodyPr/>
        <a:lstStyle/>
        <a:p>
          <a:endParaRPr lang="en-US"/>
        </a:p>
      </dgm:t>
    </dgm:pt>
    <dgm:pt modelId="{AC7AA3DE-1D73-4838-9305-8A15B7ACDCD6}" type="pres">
      <dgm:prSet presAssocID="{4E976C21-2E9A-4DCF-BC95-8C5C15DC7310}" presName="hierChild3" presStyleCnt="0"/>
      <dgm:spPr/>
    </dgm:pt>
    <dgm:pt modelId="{858F2FD3-058B-4CE4-8B97-7CEC6EB32A1A}" type="pres">
      <dgm:prSet presAssocID="{C24EDFFC-9F39-45F7-8A8E-63270DD153E2}" presName="Name19" presStyleLbl="parChTrans1D3" presStyleIdx="8" presStyleCnt="10"/>
      <dgm:spPr/>
      <dgm:t>
        <a:bodyPr/>
        <a:lstStyle/>
        <a:p>
          <a:endParaRPr lang="en-US"/>
        </a:p>
      </dgm:t>
    </dgm:pt>
    <dgm:pt modelId="{DE502A86-29F2-4EA8-B0C3-45274E0B84B4}" type="pres">
      <dgm:prSet presAssocID="{2ECE0A34-57F8-48E8-BA2C-A1CBEA24B3B5}" presName="Name21" presStyleCnt="0"/>
      <dgm:spPr/>
    </dgm:pt>
    <dgm:pt modelId="{6FF11EE2-C613-4891-8160-E9DB5BC0C1F6}" type="pres">
      <dgm:prSet presAssocID="{2ECE0A34-57F8-48E8-BA2C-A1CBEA24B3B5}" presName="level2Shape" presStyleLbl="node3" presStyleIdx="8" presStyleCnt="10"/>
      <dgm:spPr/>
      <dgm:t>
        <a:bodyPr/>
        <a:lstStyle/>
        <a:p>
          <a:endParaRPr lang="en-US"/>
        </a:p>
      </dgm:t>
    </dgm:pt>
    <dgm:pt modelId="{7A6ED237-DDCA-4490-B6D1-DD041F84E7FE}" type="pres">
      <dgm:prSet presAssocID="{2ECE0A34-57F8-48E8-BA2C-A1CBEA24B3B5}" presName="hierChild3" presStyleCnt="0"/>
      <dgm:spPr/>
    </dgm:pt>
    <dgm:pt modelId="{98D65F77-35EE-433A-B208-EB8268E0BD49}" type="pres">
      <dgm:prSet presAssocID="{DCEA3C73-A17C-4915-88A2-050A38086F2D}" presName="Name19" presStyleLbl="parChTrans1D3" presStyleIdx="9" presStyleCnt="10"/>
      <dgm:spPr/>
      <dgm:t>
        <a:bodyPr/>
        <a:lstStyle/>
        <a:p>
          <a:endParaRPr lang="en-US"/>
        </a:p>
      </dgm:t>
    </dgm:pt>
    <dgm:pt modelId="{C372B8F5-5BFB-40E3-B728-ECF447C848EF}" type="pres">
      <dgm:prSet presAssocID="{185F8177-93C6-4960-B174-61FCCDB93E41}" presName="Name21" presStyleCnt="0"/>
      <dgm:spPr/>
    </dgm:pt>
    <dgm:pt modelId="{5BB58415-C550-47E3-99E1-5EDC111F3245}" type="pres">
      <dgm:prSet presAssocID="{185F8177-93C6-4960-B174-61FCCDB93E41}" presName="level2Shape" presStyleLbl="node3" presStyleIdx="9" presStyleCnt="10"/>
      <dgm:spPr/>
      <dgm:t>
        <a:bodyPr/>
        <a:lstStyle/>
        <a:p>
          <a:endParaRPr lang="en-US"/>
        </a:p>
      </dgm:t>
    </dgm:pt>
    <dgm:pt modelId="{AEC14A0E-0EAC-4E0E-86CE-62380CDD578C}" type="pres">
      <dgm:prSet presAssocID="{185F8177-93C6-4960-B174-61FCCDB93E41}" presName="hierChild3" presStyleCnt="0"/>
      <dgm:spPr/>
    </dgm:pt>
    <dgm:pt modelId="{4891FE16-5619-475D-9627-DA0EF465E78F}" type="pres">
      <dgm:prSet presAssocID="{89BBC93F-4FFD-4F94-912C-CB2CAB0089A8}" presName="bgShapesFlow" presStyleCnt="0"/>
      <dgm:spPr/>
    </dgm:pt>
  </dgm:ptLst>
  <dgm:cxnLst>
    <dgm:cxn modelId="{661D3043-F52F-438F-94F5-A321D131C8E2}" type="presOf" srcId="{9F6AA203-A461-4B0D-A490-D3D7E6DB7B01}" destId="{6D4E9007-119F-4749-B7EE-CCE4F4D610D6}" srcOrd="0" destOrd="0" presId="urn:microsoft.com/office/officeart/2005/8/layout/hierarchy6"/>
    <dgm:cxn modelId="{ED2CBB82-4C2D-4384-8960-C9FDA2E2A732}" srcId="{43E11716-C572-40EA-B92F-21B1247E3AA2}" destId="{3D8D134A-925D-468D-8C6D-546F1D1AB211}" srcOrd="0" destOrd="0" parTransId="{C0A1B72C-4A74-47C5-8155-683432F9A609}" sibTransId="{8D4CA57F-3D7A-490D-ABE3-65BB1012F27E}"/>
    <dgm:cxn modelId="{412BB527-4978-4E5D-991A-1F89E5E308B2}" srcId="{31253AAD-78C2-40E8-B443-C635ACE422BF}" destId="{9B55265A-7088-414E-A13C-6AB7CFE18D4A}" srcOrd="1" destOrd="0" parTransId="{C7F17736-8140-4885-AAE8-3276CC53FE41}" sibTransId="{020E6B4D-0C9F-4BF3-9494-D2F8A1A9AAE4}"/>
    <dgm:cxn modelId="{69381C81-E39D-4E56-B5A6-8FE8BBB71C01}" srcId="{149DDD2F-58A6-4634-A12D-B6214AB1AD17}" destId="{0F056C56-F07A-4AAB-B5A4-CFDAD991CB3D}" srcOrd="1" destOrd="0" parTransId="{E42F3341-23E9-4C25-9C7B-216CCD636793}" sibTransId="{86BC347A-8F2D-403E-8705-CD84FDA6E93C}"/>
    <dgm:cxn modelId="{20FE197F-393A-4461-9E7A-4A919CBDFCB9}" type="presOf" srcId="{C24EDFFC-9F39-45F7-8A8E-63270DD153E2}" destId="{858F2FD3-058B-4CE4-8B97-7CEC6EB32A1A}" srcOrd="0" destOrd="0" presId="urn:microsoft.com/office/officeart/2005/8/layout/hierarchy6"/>
    <dgm:cxn modelId="{49164BAC-E46A-476C-BE5F-34F2108FE252}" type="presOf" srcId="{BC08A35A-89C7-448D-8E63-317E08CD3654}" destId="{AEE9A6B6-E240-41DA-83B0-9D9296FFBBD9}" srcOrd="0" destOrd="0" presId="urn:microsoft.com/office/officeart/2005/8/layout/hierarchy6"/>
    <dgm:cxn modelId="{9E4C354F-2569-49B9-94A1-D22F82C90EA5}" srcId="{4E976C21-2E9A-4DCF-BC95-8C5C15DC7310}" destId="{2ECE0A34-57F8-48E8-BA2C-A1CBEA24B3B5}" srcOrd="0" destOrd="0" parTransId="{C24EDFFC-9F39-45F7-8A8E-63270DD153E2}" sibTransId="{294F1E5A-7EB0-45AB-8B2C-1F68DE6D6797}"/>
    <dgm:cxn modelId="{520908DD-17B4-4D11-9D38-4E1D1D09686D}" type="presOf" srcId="{C7F17736-8140-4885-AAE8-3276CC53FE41}" destId="{611C3D41-0BB0-4A35-BCB3-D195C1FBB310}" srcOrd="0" destOrd="0" presId="urn:microsoft.com/office/officeart/2005/8/layout/hierarchy6"/>
    <dgm:cxn modelId="{DC26B58B-B84A-474C-A6AD-B104A0D63E03}" type="presOf" srcId="{9B55265A-7088-414E-A13C-6AB7CFE18D4A}" destId="{FCFD86BB-C52F-421D-B8CD-A14E6A1440C1}" srcOrd="0" destOrd="0" presId="urn:microsoft.com/office/officeart/2005/8/layout/hierarchy6"/>
    <dgm:cxn modelId="{095573F8-2D89-4394-B9E5-A2CE068C3544}" type="presOf" srcId="{185F8177-93C6-4960-B174-61FCCDB93E41}" destId="{5BB58415-C550-47E3-99E1-5EDC111F3245}" srcOrd="0" destOrd="0" presId="urn:microsoft.com/office/officeart/2005/8/layout/hierarchy6"/>
    <dgm:cxn modelId="{699D5C1E-2579-4635-875B-0F88E9B65A03}" type="presOf" srcId="{3D8D134A-925D-468D-8C6D-546F1D1AB211}" destId="{1D403B9C-BFF1-40B4-8437-0641824C3D81}" srcOrd="0" destOrd="0" presId="urn:microsoft.com/office/officeart/2005/8/layout/hierarchy6"/>
    <dgm:cxn modelId="{AA5C88A9-3224-4F70-9D36-617BAD847D48}" type="presOf" srcId="{547F2E6E-3CC5-4A2A-8478-DC6FD97888F2}" destId="{83EEEEF0-5480-409A-B84F-53606C1B7DFF}" srcOrd="0" destOrd="0" presId="urn:microsoft.com/office/officeart/2005/8/layout/hierarchy6"/>
    <dgm:cxn modelId="{172105D8-7E49-49C7-8108-CD10BAAEE336}" srcId="{0ECCCE8B-F06A-4645-927A-90FC0B9BF3EA}" destId="{4E976C21-2E9A-4DCF-BC95-8C5C15DC7310}" srcOrd="4" destOrd="0" parTransId="{8BB85B57-82B1-4CAC-BA2A-60FB01280D1B}" sibTransId="{0791C720-7C9D-4A88-BC36-A07EE735040C}"/>
    <dgm:cxn modelId="{BC00D445-262F-415D-BD92-CC2D7FEEB7EF}" type="presOf" srcId="{2ECE0A34-57F8-48E8-BA2C-A1CBEA24B3B5}" destId="{6FF11EE2-C613-4891-8160-E9DB5BC0C1F6}" srcOrd="0" destOrd="0" presId="urn:microsoft.com/office/officeart/2005/8/layout/hierarchy6"/>
    <dgm:cxn modelId="{756EA250-6F9B-4B1F-85E5-4D919A5F7D7B}" type="presOf" srcId="{89BBC93F-4FFD-4F94-912C-CB2CAB0089A8}" destId="{78DB1E59-EFEE-49B9-A075-0E3EF8D2F559}" srcOrd="0" destOrd="0" presId="urn:microsoft.com/office/officeart/2005/8/layout/hierarchy6"/>
    <dgm:cxn modelId="{41A4BD38-6EAA-4C8E-AF17-4962A09F5937}" type="presOf" srcId="{4170AB5E-B82D-492F-8902-F7F278B13E34}" destId="{B082A2F4-D458-4703-B092-C4978A5EF073}" srcOrd="0" destOrd="0" presId="urn:microsoft.com/office/officeart/2005/8/layout/hierarchy6"/>
    <dgm:cxn modelId="{F76DB553-1B2E-4038-8F25-D8EACC038109}" srcId="{B7E2F016-E063-4962-AAB2-32D7EBE406FB}" destId="{DC8F9498-B82A-4F52-B7E4-A3D2C738C633}" srcOrd="0" destOrd="0" parTransId="{9EC0618A-A7A8-4FD7-AD62-2E9FB51A5AE5}" sibTransId="{AD3EFB2E-C73B-4D1A-B32E-AE7F8F4ACF99}"/>
    <dgm:cxn modelId="{F726720D-304D-410C-A81B-CA7DEF24BE6D}" srcId="{149DDD2F-58A6-4634-A12D-B6214AB1AD17}" destId="{B0D9D994-804B-4C83-9A9D-E82644A4FBD0}" srcOrd="0" destOrd="0" parTransId="{547F2E6E-3CC5-4A2A-8478-DC6FD97888F2}" sibTransId="{7FC0FABB-4FD4-4CA2-8FBF-7FF38C051C9F}"/>
    <dgm:cxn modelId="{83563196-31E6-45FE-A895-8E3F0ABBBD89}" type="presOf" srcId="{43E11716-C572-40EA-B92F-21B1247E3AA2}" destId="{EFAE39A6-3588-4410-A678-1B41C2102585}" srcOrd="0" destOrd="0" presId="urn:microsoft.com/office/officeart/2005/8/layout/hierarchy6"/>
    <dgm:cxn modelId="{5D39CCDE-6610-42B4-B2BE-2C08B1A326EA}" type="presOf" srcId="{E42F3341-23E9-4C25-9C7B-216CCD636793}" destId="{16F97F5A-E14E-44F6-B0A3-0EA1E048B4BC}" srcOrd="0" destOrd="0" presId="urn:microsoft.com/office/officeart/2005/8/layout/hierarchy6"/>
    <dgm:cxn modelId="{B3E1D119-59C4-4CA6-B0E2-28D323AE087B}" type="presOf" srcId="{AC531355-88A3-4949-97FB-01D4C3EB96B7}" destId="{726F3CEE-B450-4FD6-A327-89B096C4E23C}" srcOrd="0" destOrd="0" presId="urn:microsoft.com/office/officeart/2005/8/layout/hierarchy6"/>
    <dgm:cxn modelId="{BD3C193D-1255-4CE4-9028-435A815DE208}" type="presOf" srcId="{61001451-3990-49AE-AC33-130E501A6280}" destId="{4751586E-60B8-4D8C-80C7-9734B1A2E8D3}" srcOrd="0" destOrd="0" presId="urn:microsoft.com/office/officeart/2005/8/layout/hierarchy6"/>
    <dgm:cxn modelId="{483DEE9D-8D3A-4AC1-B4D4-8DA4E91C60FF}" type="presOf" srcId="{4E976C21-2E9A-4DCF-BC95-8C5C15DC7310}" destId="{519505CC-CF99-459B-A098-5A9CEB31097B}" srcOrd="0" destOrd="0" presId="urn:microsoft.com/office/officeart/2005/8/layout/hierarchy6"/>
    <dgm:cxn modelId="{52F3AFE9-5CA6-4DAA-B908-BC85B3C535CA}" srcId="{0ECCCE8B-F06A-4645-927A-90FC0B9BF3EA}" destId="{31253AAD-78C2-40E8-B443-C635ACE422BF}" srcOrd="0" destOrd="0" parTransId="{9F6AA203-A461-4B0D-A490-D3D7E6DB7B01}" sibTransId="{3975AC96-19E1-448F-AE88-2B3C68320FB2}"/>
    <dgm:cxn modelId="{804230BC-E5B2-4D63-930E-9B8C6A38B698}" srcId="{0ECCCE8B-F06A-4645-927A-90FC0B9BF3EA}" destId="{43E11716-C572-40EA-B92F-21B1247E3AA2}" srcOrd="1" destOrd="0" parTransId="{E659A925-7A9A-47EE-BBEF-CDC5EB6A96DD}" sibTransId="{C5AEDF79-CB9C-42F6-8DA3-7EC1353AFF99}"/>
    <dgm:cxn modelId="{98257495-146B-421B-8564-7CCBB4C2B17D}" srcId="{4E976C21-2E9A-4DCF-BC95-8C5C15DC7310}" destId="{185F8177-93C6-4960-B174-61FCCDB93E41}" srcOrd="1" destOrd="0" parTransId="{DCEA3C73-A17C-4915-88A2-050A38086F2D}" sibTransId="{F0A3B7EC-980E-4B1F-9A9B-0E754AE68B79}"/>
    <dgm:cxn modelId="{F1321F17-6D08-4A5B-A8CB-5953CCD49BA4}" type="presOf" srcId="{0ECCCE8B-F06A-4645-927A-90FC0B9BF3EA}" destId="{2C0E5CED-8709-48B4-B1DC-9EEE977125A7}" srcOrd="0" destOrd="0" presId="urn:microsoft.com/office/officeart/2005/8/layout/hierarchy6"/>
    <dgm:cxn modelId="{D46E5B93-0F05-4640-A9F9-9B7BD09A836A}" srcId="{43E11716-C572-40EA-B92F-21B1247E3AA2}" destId="{AC531355-88A3-4949-97FB-01D4C3EB96B7}" srcOrd="1" destOrd="0" parTransId="{4170AB5E-B82D-492F-8902-F7F278B13E34}" sibTransId="{C10BEF29-DB1A-44D8-8784-DA1A8CCEAD32}"/>
    <dgm:cxn modelId="{2CF4266A-51D9-4986-9420-F47FA319F35C}" type="presOf" srcId="{B7E2F016-E063-4962-AAB2-32D7EBE406FB}" destId="{9C4E23E1-97E5-482A-8677-E55003B68DEC}" srcOrd="0" destOrd="0" presId="urn:microsoft.com/office/officeart/2005/8/layout/hierarchy6"/>
    <dgm:cxn modelId="{A68A3FA1-DE16-4C06-A6A3-F382F98F09D5}" type="presOf" srcId="{9EC0618A-A7A8-4FD7-AD62-2E9FB51A5AE5}" destId="{21E5417B-9294-4E6B-8F6E-29429E46B3DD}" srcOrd="0" destOrd="0" presId="urn:microsoft.com/office/officeart/2005/8/layout/hierarchy6"/>
    <dgm:cxn modelId="{33E068D0-DBE8-46EE-AD8B-AC6DFC9082F4}" type="presOf" srcId="{09DD16C9-E38B-4CF4-8164-4E7DFCFEBE88}" destId="{07E4BE0B-B3C5-4847-9376-2DFA6A2DB9DB}" srcOrd="0" destOrd="0" presId="urn:microsoft.com/office/officeart/2005/8/layout/hierarchy6"/>
    <dgm:cxn modelId="{C0A72AB5-D20D-4871-BC82-ED5B76D9A5D9}" type="presOf" srcId="{DC8F9498-B82A-4F52-B7E4-A3D2C738C633}" destId="{94696092-7BFB-4C6E-8B8D-CFF005611B89}" srcOrd="0" destOrd="0" presId="urn:microsoft.com/office/officeart/2005/8/layout/hierarchy6"/>
    <dgm:cxn modelId="{EE2BF7CA-83CE-4D27-9931-48A72D2D86EF}" srcId="{0ECCCE8B-F06A-4645-927A-90FC0B9BF3EA}" destId="{B7E2F016-E063-4962-AAB2-32D7EBE406FB}" srcOrd="2" destOrd="0" parTransId="{7E9C48DB-2536-4808-8040-D844DBCFBADC}" sibTransId="{37484F41-653F-43B3-BC61-1C33C01C7791}"/>
    <dgm:cxn modelId="{F46889FF-D9FD-4131-A1AD-673707A0E9BB}" srcId="{0ECCCE8B-F06A-4645-927A-90FC0B9BF3EA}" destId="{149DDD2F-58A6-4634-A12D-B6214AB1AD17}" srcOrd="3" destOrd="0" parTransId="{09DD16C9-E38B-4CF4-8164-4E7DFCFEBE88}" sibTransId="{5928903A-D5E0-4743-A695-C984D59631A6}"/>
    <dgm:cxn modelId="{CA0758DC-DF88-4399-BB97-F31F26F72F0A}" type="presOf" srcId="{31253AAD-78C2-40E8-B443-C635ACE422BF}" destId="{C3DE9338-8D3E-4BC9-8643-488966EEBD1F}" srcOrd="0" destOrd="0" presId="urn:microsoft.com/office/officeart/2005/8/layout/hierarchy6"/>
    <dgm:cxn modelId="{98EA1ECC-BEF7-435A-B5CB-0623066EA008}" type="presOf" srcId="{0F056C56-F07A-4AAB-B5A4-CFDAD991CB3D}" destId="{6BD25873-9DD9-4085-A001-EF79FA3AC609}" srcOrd="0" destOrd="0" presId="urn:microsoft.com/office/officeart/2005/8/layout/hierarchy6"/>
    <dgm:cxn modelId="{791F74D1-1A8C-40F8-91B5-5B3651A66DAA}" type="presOf" srcId="{E659A925-7A9A-47EE-BBEF-CDC5EB6A96DD}" destId="{8C7AC658-D7AD-4B8E-819C-50DCE8013BF7}" srcOrd="0" destOrd="0" presId="urn:microsoft.com/office/officeart/2005/8/layout/hierarchy6"/>
    <dgm:cxn modelId="{E940289D-8094-4283-BF35-C1A3C1D91242}" srcId="{B7E2F016-E063-4962-AAB2-32D7EBE406FB}" destId="{9CDADE19-C00D-43DE-A519-27B300D8880A}" srcOrd="1" destOrd="0" parTransId="{61001451-3990-49AE-AC33-130E501A6280}" sibTransId="{CB95BB91-5B5A-4AD8-923B-4D65F3AE6CB4}"/>
    <dgm:cxn modelId="{42FD1634-F7BC-4FA6-95BA-FFFFAE97FD3A}" type="presOf" srcId="{8BB85B57-82B1-4CAC-BA2A-60FB01280D1B}" destId="{C31AECA8-BE80-4614-8874-E9C998F574A0}" srcOrd="0" destOrd="0" presId="urn:microsoft.com/office/officeart/2005/8/layout/hierarchy6"/>
    <dgm:cxn modelId="{7CCCF9E0-0B75-419B-9E1E-5B197A083151}" type="presOf" srcId="{DCEA3C73-A17C-4915-88A2-050A38086F2D}" destId="{98D65F77-35EE-433A-B208-EB8268E0BD49}" srcOrd="0" destOrd="0" presId="urn:microsoft.com/office/officeart/2005/8/layout/hierarchy6"/>
    <dgm:cxn modelId="{C27DCB19-7AF4-4625-9E51-045994C51728}" type="presOf" srcId="{B0D9D994-804B-4C83-9A9D-E82644A4FBD0}" destId="{0A3E7366-3FF9-452D-8DB3-B8A0223A2C7B}" srcOrd="0" destOrd="0" presId="urn:microsoft.com/office/officeart/2005/8/layout/hierarchy6"/>
    <dgm:cxn modelId="{08180DCC-9C87-4F91-9DD1-0AC1281587AD}" srcId="{89BBC93F-4FFD-4F94-912C-CB2CAB0089A8}" destId="{0ECCCE8B-F06A-4645-927A-90FC0B9BF3EA}" srcOrd="0" destOrd="0" parTransId="{BCB1D1E3-4826-4A1B-A2DD-0DD61A84EDE0}" sibTransId="{467CDD55-D462-48B9-B79E-3A8ADE996CD1}"/>
    <dgm:cxn modelId="{CE74263D-C27B-4C95-A0F6-2CF4273A3214}" srcId="{31253AAD-78C2-40E8-B443-C635ACE422BF}" destId="{83D1192B-3756-4B55-A5BF-CA00B80E9817}" srcOrd="0" destOrd="0" parTransId="{BC08A35A-89C7-448D-8E63-317E08CD3654}" sibTransId="{D01657B4-E514-46B7-A81A-F2DA6317C2FC}"/>
    <dgm:cxn modelId="{B94AE8C2-7E8D-4728-89AC-FA7CF4367EFC}" type="presOf" srcId="{149DDD2F-58A6-4634-A12D-B6214AB1AD17}" destId="{83F3F478-DCD2-4933-8DE9-FCB3C5A26C35}" srcOrd="0" destOrd="0" presId="urn:microsoft.com/office/officeart/2005/8/layout/hierarchy6"/>
    <dgm:cxn modelId="{C9827786-53F4-439D-84D1-82D97734724F}" type="presOf" srcId="{83D1192B-3756-4B55-A5BF-CA00B80E9817}" destId="{81C361AB-4651-4CC4-9C11-6165BDABB50D}" srcOrd="0" destOrd="0" presId="urn:microsoft.com/office/officeart/2005/8/layout/hierarchy6"/>
    <dgm:cxn modelId="{DC1EF486-683B-4341-BEB7-46121AAFFC56}" type="presOf" srcId="{C0A1B72C-4A74-47C5-8155-683432F9A609}" destId="{F2C7E39E-1CDF-4516-A3C0-76E175F21F3C}" srcOrd="0" destOrd="0" presId="urn:microsoft.com/office/officeart/2005/8/layout/hierarchy6"/>
    <dgm:cxn modelId="{92F35261-40C6-4AA4-9A85-0AE5259FD9FC}" type="presOf" srcId="{7E9C48DB-2536-4808-8040-D844DBCFBADC}" destId="{23531883-7BB1-4AF4-AAEF-56069EA40AAA}" srcOrd="0" destOrd="0" presId="urn:microsoft.com/office/officeart/2005/8/layout/hierarchy6"/>
    <dgm:cxn modelId="{44A53661-CC82-43B0-B41C-CDB80E7CF6E8}" type="presOf" srcId="{9CDADE19-C00D-43DE-A519-27B300D8880A}" destId="{D4ED9D10-C58B-4221-B595-AF39BA6FE905}" srcOrd="0" destOrd="0" presId="urn:microsoft.com/office/officeart/2005/8/layout/hierarchy6"/>
    <dgm:cxn modelId="{67FD1132-BF6D-4DF1-8589-472940C1C007}" type="presParOf" srcId="{78DB1E59-EFEE-49B9-A075-0E3EF8D2F559}" destId="{5ADD4455-A519-4B1D-BA7A-1D5CBB1DEA62}" srcOrd="0" destOrd="0" presId="urn:microsoft.com/office/officeart/2005/8/layout/hierarchy6"/>
    <dgm:cxn modelId="{902C6E09-19B2-454B-8C13-010B4670D2AC}" type="presParOf" srcId="{5ADD4455-A519-4B1D-BA7A-1D5CBB1DEA62}" destId="{D03B7BF5-9208-4F24-A662-D4BC0E7500DB}" srcOrd="0" destOrd="0" presId="urn:microsoft.com/office/officeart/2005/8/layout/hierarchy6"/>
    <dgm:cxn modelId="{705377D6-5F75-419D-AD50-172453B19B11}" type="presParOf" srcId="{D03B7BF5-9208-4F24-A662-D4BC0E7500DB}" destId="{AC407DA0-4513-4D29-A940-EB29BEE12D14}" srcOrd="0" destOrd="0" presId="urn:microsoft.com/office/officeart/2005/8/layout/hierarchy6"/>
    <dgm:cxn modelId="{5D298BDB-3793-452C-A609-4378F283DDFD}" type="presParOf" srcId="{AC407DA0-4513-4D29-A940-EB29BEE12D14}" destId="{2C0E5CED-8709-48B4-B1DC-9EEE977125A7}" srcOrd="0" destOrd="0" presId="urn:microsoft.com/office/officeart/2005/8/layout/hierarchy6"/>
    <dgm:cxn modelId="{3811219A-7229-45F4-B294-B7F7A4280B18}" type="presParOf" srcId="{AC407DA0-4513-4D29-A940-EB29BEE12D14}" destId="{CD27FCA3-86FA-4E37-9766-DD43126D80DF}" srcOrd="1" destOrd="0" presId="urn:microsoft.com/office/officeart/2005/8/layout/hierarchy6"/>
    <dgm:cxn modelId="{89D6CC4E-D71A-48DD-8DD0-E45B69B12C54}" type="presParOf" srcId="{CD27FCA3-86FA-4E37-9766-DD43126D80DF}" destId="{6D4E9007-119F-4749-B7EE-CCE4F4D610D6}" srcOrd="0" destOrd="0" presId="urn:microsoft.com/office/officeart/2005/8/layout/hierarchy6"/>
    <dgm:cxn modelId="{B2636175-F698-4C7C-8601-45C3EE428050}" type="presParOf" srcId="{CD27FCA3-86FA-4E37-9766-DD43126D80DF}" destId="{DE740CA9-06F0-4A90-A67A-60588D45CF4E}" srcOrd="1" destOrd="0" presId="urn:microsoft.com/office/officeart/2005/8/layout/hierarchy6"/>
    <dgm:cxn modelId="{876570A4-97FF-4CA2-9513-47732FF5C8BA}" type="presParOf" srcId="{DE740CA9-06F0-4A90-A67A-60588D45CF4E}" destId="{C3DE9338-8D3E-4BC9-8643-488966EEBD1F}" srcOrd="0" destOrd="0" presId="urn:microsoft.com/office/officeart/2005/8/layout/hierarchy6"/>
    <dgm:cxn modelId="{250EF37A-1D42-4D10-A433-6A00E6B04FF0}" type="presParOf" srcId="{DE740CA9-06F0-4A90-A67A-60588D45CF4E}" destId="{E7FC4C1B-C0B7-4333-894F-DC8558415834}" srcOrd="1" destOrd="0" presId="urn:microsoft.com/office/officeart/2005/8/layout/hierarchy6"/>
    <dgm:cxn modelId="{E81711A5-08CD-431C-80BE-551CA1910D21}" type="presParOf" srcId="{E7FC4C1B-C0B7-4333-894F-DC8558415834}" destId="{AEE9A6B6-E240-41DA-83B0-9D9296FFBBD9}" srcOrd="0" destOrd="0" presId="urn:microsoft.com/office/officeart/2005/8/layout/hierarchy6"/>
    <dgm:cxn modelId="{5EC46406-7535-4B01-9443-85E925C25C85}" type="presParOf" srcId="{E7FC4C1B-C0B7-4333-894F-DC8558415834}" destId="{B76D4C82-68DA-48C1-89D3-21606A0C9E40}" srcOrd="1" destOrd="0" presId="urn:microsoft.com/office/officeart/2005/8/layout/hierarchy6"/>
    <dgm:cxn modelId="{C84593A2-AFD9-4E23-A1C8-B7D53A1D0048}" type="presParOf" srcId="{B76D4C82-68DA-48C1-89D3-21606A0C9E40}" destId="{81C361AB-4651-4CC4-9C11-6165BDABB50D}" srcOrd="0" destOrd="0" presId="urn:microsoft.com/office/officeart/2005/8/layout/hierarchy6"/>
    <dgm:cxn modelId="{D7A2BBA3-BBEA-416C-8CDE-1021B7E813CE}" type="presParOf" srcId="{B76D4C82-68DA-48C1-89D3-21606A0C9E40}" destId="{38980564-223F-4890-9592-749329851652}" srcOrd="1" destOrd="0" presId="urn:microsoft.com/office/officeart/2005/8/layout/hierarchy6"/>
    <dgm:cxn modelId="{A8AD45E3-3BCD-42F3-B618-C6995F2778A5}" type="presParOf" srcId="{E7FC4C1B-C0B7-4333-894F-DC8558415834}" destId="{611C3D41-0BB0-4A35-BCB3-D195C1FBB310}" srcOrd="2" destOrd="0" presId="urn:microsoft.com/office/officeart/2005/8/layout/hierarchy6"/>
    <dgm:cxn modelId="{6FB565CC-6895-4046-BB09-0F2C44751188}" type="presParOf" srcId="{E7FC4C1B-C0B7-4333-894F-DC8558415834}" destId="{95D6BFA6-397C-4748-9062-A7D7781D8D38}" srcOrd="3" destOrd="0" presId="urn:microsoft.com/office/officeart/2005/8/layout/hierarchy6"/>
    <dgm:cxn modelId="{B2CF7588-E5CF-42B4-8F39-F1AC14FFF6A2}" type="presParOf" srcId="{95D6BFA6-397C-4748-9062-A7D7781D8D38}" destId="{FCFD86BB-C52F-421D-B8CD-A14E6A1440C1}" srcOrd="0" destOrd="0" presId="urn:microsoft.com/office/officeart/2005/8/layout/hierarchy6"/>
    <dgm:cxn modelId="{D0807322-FEF1-4CBF-8372-D7DD4F524A59}" type="presParOf" srcId="{95D6BFA6-397C-4748-9062-A7D7781D8D38}" destId="{FF5334B0-DF63-4E8D-9E4A-EB3BF05C3B3E}" srcOrd="1" destOrd="0" presId="urn:microsoft.com/office/officeart/2005/8/layout/hierarchy6"/>
    <dgm:cxn modelId="{30DE3B80-6061-45B0-A365-1833EDF8B5EC}" type="presParOf" srcId="{CD27FCA3-86FA-4E37-9766-DD43126D80DF}" destId="{8C7AC658-D7AD-4B8E-819C-50DCE8013BF7}" srcOrd="2" destOrd="0" presId="urn:microsoft.com/office/officeart/2005/8/layout/hierarchy6"/>
    <dgm:cxn modelId="{C2C681DA-37F7-4F1C-B3D3-764FE94BE756}" type="presParOf" srcId="{CD27FCA3-86FA-4E37-9766-DD43126D80DF}" destId="{61C9A4F1-1D56-43A0-B22E-88230DFDD69C}" srcOrd="3" destOrd="0" presId="urn:microsoft.com/office/officeart/2005/8/layout/hierarchy6"/>
    <dgm:cxn modelId="{8FBD9A32-9FE8-425B-B2A9-EDF8673B02CF}" type="presParOf" srcId="{61C9A4F1-1D56-43A0-B22E-88230DFDD69C}" destId="{EFAE39A6-3588-4410-A678-1B41C2102585}" srcOrd="0" destOrd="0" presId="urn:microsoft.com/office/officeart/2005/8/layout/hierarchy6"/>
    <dgm:cxn modelId="{B3D4FC72-FF1D-4557-9A61-E006A88A1D16}" type="presParOf" srcId="{61C9A4F1-1D56-43A0-B22E-88230DFDD69C}" destId="{CFF97D7C-F5CF-4778-9663-82E2A2ADC10C}" srcOrd="1" destOrd="0" presId="urn:microsoft.com/office/officeart/2005/8/layout/hierarchy6"/>
    <dgm:cxn modelId="{41B67CB0-2F3D-4D4B-9398-39F86F76BAE1}" type="presParOf" srcId="{CFF97D7C-F5CF-4778-9663-82E2A2ADC10C}" destId="{F2C7E39E-1CDF-4516-A3C0-76E175F21F3C}" srcOrd="0" destOrd="0" presId="urn:microsoft.com/office/officeart/2005/8/layout/hierarchy6"/>
    <dgm:cxn modelId="{E7BB140E-A160-4930-83A5-415027246527}" type="presParOf" srcId="{CFF97D7C-F5CF-4778-9663-82E2A2ADC10C}" destId="{58109948-F3B4-4A9E-94B9-FD01CC01CA58}" srcOrd="1" destOrd="0" presId="urn:microsoft.com/office/officeart/2005/8/layout/hierarchy6"/>
    <dgm:cxn modelId="{F996A6E0-A49E-411E-A5CF-B5907727C366}" type="presParOf" srcId="{58109948-F3B4-4A9E-94B9-FD01CC01CA58}" destId="{1D403B9C-BFF1-40B4-8437-0641824C3D81}" srcOrd="0" destOrd="0" presId="urn:microsoft.com/office/officeart/2005/8/layout/hierarchy6"/>
    <dgm:cxn modelId="{E2F23AE6-A18B-49A5-87DA-DDECF26C1852}" type="presParOf" srcId="{58109948-F3B4-4A9E-94B9-FD01CC01CA58}" destId="{CDD4271F-1B3B-465D-AF70-C97FF60B3E12}" srcOrd="1" destOrd="0" presId="urn:microsoft.com/office/officeart/2005/8/layout/hierarchy6"/>
    <dgm:cxn modelId="{F416ED06-C160-4B55-AED9-0C4ECC95C1AE}" type="presParOf" srcId="{CFF97D7C-F5CF-4778-9663-82E2A2ADC10C}" destId="{B082A2F4-D458-4703-B092-C4978A5EF073}" srcOrd="2" destOrd="0" presId="urn:microsoft.com/office/officeart/2005/8/layout/hierarchy6"/>
    <dgm:cxn modelId="{6FD97CEF-2C02-4804-8870-9C6B35635FBD}" type="presParOf" srcId="{CFF97D7C-F5CF-4778-9663-82E2A2ADC10C}" destId="{FA26E423-917E-4CCA-909A-A25BA09F26DB}" srcOrd="3" destOrd="0" presId="urn:microsoft.com/office/officeart/2005/8/layout/hierarchy6"/>
    <dgm:cxn modelId="{BF56C504-6C14-4C98-8F60-FC0F3E711ADE}" type="presParOf" srcId="{FA26E423-917E-4CCA-909A-A25BA09F26DB}" destId="{726F3CEE-B450-4FD6-A327-89B096C4E23C}" srcOrd="0" destOrd="0" presId="urn:microsoft.com/office/officeart/2005/8/layout/hierarchy6"/>
    <dgm:cxn modelId="{8A34B646-C55B-4738-B1F6-CA88A3E6EB58}" type="presParOf" srcId="{FA26E423-917E-4CCA-909A-A25BA09F26DB}" destId="{AFD63753-3CA8-4047-84E4-E626BA85A72B}" srcOrd="1" destOrd="0" presId="urn:microsoft.com/office/officeart/2005/8/layout/hierarchy6"/>
    <dgm:cxn modelId="{3FB7D342-DAA5-46C0-A758-681F0BB72A17}" type="presParOf" srcId="{CD27FCA3-86FA-4E37-9766-DD43126D80DF}" destId="{23531883-7BB1-4AF4-AAEF-56069EA40AAA}" srcOrd="4" destOrd="0" presId="urn:microsoft.com/office/officeart/2005/8/layout/hierarchy6"/>
    <dgm:cxn modelId="{BBAFFB3E-681D-46E4-9EDA-14E6BF96D43B}" type="presParOf" srcId="{CD27FCA3-86FA-4E37-9766-DD43126D80DF}" destId="{8256981F-C0A6-446C-AD0B-DD6A8F7AFF41}" srcOrd="5" destOrd="0" presId="urn:microsoft.com/office/officeart/2005/8/layout/hierarchy6"/>
    <dgm:cxn modelId="{F0D20BD1-BC30-47C5-8103-D8C12477E0C7}" type="presParOf" srcId="{8256981F-C0A6-446C-AD0B-DD6A8F7AFF41}" destId="{9C4E23E1-97E5-482A-8677-E55003B68DEC}" srcOrd="0" destOrd="0" presId="urn:microsoft.com/office/officeart/2005/8/layout/hierarchy6"/>
    <dgm:cxn modelId="{29F82A38-93C1-48A1-A140-2308C47FA84B}" type="presParOf" srcId="{8256981F-C0A6-446C-AD0B-DD6A8F7AFF41}" destId="{DA274475-1CFF-47C2-8C38-A46222881471}" srcOrd="1" destOrd="0" presId="urn:microsoft.com/office/officeart/2005/8/layout/hierarchy6"/>
    <dgm:cxn modelId="{1BCA483B-E756-468F-A546-A975E843954D}" type="presParOf" srcId="{DA274475-1CFF-47C2-8C38-A46222881471}" destId="{21E5417B-9294-4E6B-8F6E-29429E46B3DD}" srcOrd="0" destOrd="0" presId="urn:microsoft.com/office/officeart/2005/8/layout/hierarchy6"/>
    <dgm:cxn modelId="{10FC1E5E-C40A-444B-8B4D-990808236456}" type="presParOf" srcId="{DA274475-1CFF-47C2-8C38-A46222881471}" destId="{A98EBD40-016E-44E0-AD1F-365508C82C7C}" srcOrd="1" destOrd="0" presId="urn:microsoft.com/office/officeart/2005/8/layout/hierarchy6"/>
    <dgm:cxn modelId="{2A7B72B0-8F35-49CA-A0B6-5CEE8B164F01}" type="presParOf" srcId="{A98EBD40-016E-44E0-AD1F-365508C82C7C}" destId="{94696092-7BFB-4C6E-8B8D-CFF005611B89}" srcOrd="0" destOrd="0" presId="urn:microsoft.com/office/officeart/2005/8/layout/hierarchy6"/>
    <dgm:cxn modelId="{EF73EE3B-63CA-49ED-BC8A-2DD05BA4E4C6}" type="presParOf" srcId="{A98EBD40-016E-44E0-AD1F-365508C82C7C}" destId="{AFE20BE5-8EDA-45AB-8C82-44BD62A49CC2}" srcOrd="1" destOrd="0" presId="urn:microsoft.com/office/officeart/2005/8/layout/hierarchy6"/>
    <dgm:cxn modelId="{01E6908A-A2B6-441E-AB7A-EC66B3D94435}" type="presParOf" srcId="{DA274475-1CFF-47C2-8C38-A46222881471}" destId="{4751586E-60B8-4D8C-80C7-9734B1A2E8D3}" srcOrd="2" destOrd="0" presId="urn:microsoft.com/office/officeart/2005/8/layout/hierarchy6"/>
    <dgm:cxn modelId="{DDA403BA-76D3-4CA2-B262-0B266EC7A256}" type="presParOf" srcId="{DA274475-1CFF-47C2-8C38-A46222881471}" destId="{08F6A425-C430-4E48-9D93-E433B0233391}" srcOrd="3" destOrd="0" presId="urn:microsoft.com/office/officeart/2005/8/layout/hierarchy6"/>
    <dgm:cxn modelId="{45FEA011-EFAF-4B31-98EE-EA47D94950A0}" type="presParOf" srcId="{08F6A425-C430-4E48-9D93-E433B0233391}" destId="{D4ED9D10-C58B-4221-B595-AF39BA6FE905}" srcOrd="0" destOrd="0" presId="urn:microsoft.com/office/officeart/2005/8/layout/hierarchy6"/>
    <dgm:cxn modelId="{C6A29DA3-6E58-435E-98BF-DCB657F7884C}" type="presParOf" srcId="{08F6A425-C430-4E48-9D93-E433B0233391}" destId="{B4623A55-5C48-4333-A0AB-E90C54128CA6}" srcOrd="1" destOrd="0" presId="urn:microsoft.com/office/officeart/2005/8/layout/hierarchy6"/>
    <dgm:cxn modelId="{02507252-E802-4B97-873C-426EE0D3A7FF}" type="presParOf" srcId="{CD27FCA3-86FA-4E37-9766-DD43126D80DF}" destId="{07E4BE0B-B3C5-4847-9376-2DFA6A2DB9DB}" srcOrd="6" destOrd="0" presId="urn:microsoft.com/office/officeart/2005/8/layout/hierarchy6"/>
    <dgm:cxn modelId="{F9510049-68EA-4B89-9C15-E82E182EA245}" type="presParOf" srcId="{CD27FCA3-86FA-4E37-9766-DD43126D80DF}" destId="{56E3CDB5-C223-40A3-A596-8D5E1D542949}" srcOrd="7" destOrd="0" presId="urn:microsoft.com/office/officeart/2005/8/layout/hierarchy6"/>
    <dgm:cxn modelId="{5B195F20-0937-4377-A424-F2C8ACB2ECA1}" type="presParOf" srcId="{56E3CDB5-C223-40A3-A596-8D5E1D542949}" destId="{83F3F478-DCD2-4933-8DE9-FCB3C5A26C35}" srcOrd="0" destOrd="0" presId="urn:microsoft.com/office/officeart/2005/8/layout/hierarchy6"/>
    <dgm:cxn modelId="{1F6A5E86-1B81-427E-8862-5C6AA5865AD8}" type="presParOf" srcId="{56E3CDB5-C223-40A3-A596-8D5E1D542949}" destId="{C0E816CD-2232-43AB-BD8E-D731E641512A}" srcOrd="1" destOrd="0" presId="urn:microsoft.com/office/officeart/2005/8/layout/hierarchy6"/>
    <dgm:cxn modelId="{C3A70E5C-F88A-48BA-BAF0-2743E381F87F}" type="presParOf" srcId="{C0E816CD-2232-43AB-BD8E-D731E641512A}" destId="{83EEEEF0-5480-409A-B84F-53606C1B7DFF}" srcOrd="0" destOrd="0" presId="urn:microsoft.com/office/officeart/2005/8/layout/hierarchy6"/>
    <dgm:cxn modelId="{D6FBFDA4-CB27-486B-8595-F8080CBFE88F}" type="presParOf" srcId="{C0E816CD-2232-43AB-BD8E-D731E641512A}" destId="{27645EEF-284A-42EC-A3F8-C97EC6F105B6}" srcOrd="1" destOrd="0" presId="urn:microsoft.com/office/officeart/2005/8/layout/hierarchy6"/>
    <dgm:cxn modelId="{5CB0D7C7-BCD6-4457-99A6-2A16D36865E3}" type="presParOf" srcId="{27645EEF-284A-42EC-A3F8-C97EC6F105B6}" destId="{0A3E7366-3FF9-452D-8DB3-B8A0223A2C7B}" srcOrd="0" destOrd="0" presId="urn:microsoft.com/office/officeart/2005/8/layout/hierarchy6"/>
    <dgm:cxn modelId="{8D9B62CF-2534-477F-9BA9-5DB5E9F08BCF}" type="presParOf" srcId="{27645EEF-284A-42EC-A3F8-C97EC6F105B6}" destId="{02EC0CE7-EEF3-4BE8-8FC2-4E6F5ED2C975}" srcOrd="1" destOrd="0" presId="urn:microsoft.com/office/officeart/2005/8/layout/hierarchy6"/>
    <dgm:cxn modelId="{9FC479C1-3DD0-4D36-9881-D38A961BA467}" type="presParOf" srcId="{C0E816CD-2232-43AB-BD8E-D731E641512A}" destId="{16F97F5A-E14E-44F6-B0A3-0EA1E048B4BC}" srcOrd="2" destOrd="0" presId="urn:microsoft.com/office/officeart/2005/8/layout/hierarchy6"/>
    <dgm:cxn modelId="{DA24A1A0-0C20-43AC-A326-5974966E7C45}" type="presParOf" srcId="{C0E816CD-2232-43AB-BD8E-D731E641512A}" destId="{24BAE7BB-F083-4161-8F1D-9E250867CF89}" srcOrd="3" destOrd="0" presId="urn:microsoft.com/office/officeart/2005/8/layout/hierarchy6"/>
    <dgm:cxn modelId="{6EC383F9-71C0-467B-9747-F170DF9865EB}" type="presParOf" srcId="{24BAE7BB-F083-4161-8F1D-9E250867CF89}" destId="{6BD25873-9DD9-4085-A001-EF79FA3AC609}" srcOrd="0" destOrd="0" presId="urn:microsoft.com/office/officeart/2005/8/layout/hierarchy6"/>
    <dgm:cxn modelId="{970DA8C1-7AC8-4146-9060-064465ABC9AC}" type="presParOf" srcId="{24BAE7BB-F083-4161-8F1D-9E250867CF89}" destId="{26B5C7BF-EB9D-4F36-81CE-CDC4D0071D1C}" srcOrd="1" destOrd="0" presId="urn:microsoft.com/office/officeart/2005/8/layout/hierarchy6"/>
    <dgm:cxn modelId="{FF0B0CF4-417C-4968-8E3D-E5560C46D22B}" type="presParOf" srcId="{CD27FCA3-86FA-4E37-9766-DD43126D80DF}" destId="{C31AECA8-BE80-4614-8874-E9C998F574A0}" srcOrd="8" destOrd="0" presId="urn:microsoft.com/office/officeart/2005/8/layout/hierarchy6"/>
    <dgm:cxn modelId="{ABB6E7AB-8EC5-4269-B977-F0E236303E47}" type="presParOf" srcId="{CD27FCA3-86FA-4E37-9766-DD43126D80DF}" destId="{C5343985-83E8-4D7C-B8EC-352F0A831080}" srcOrd="9" destOrd="0" presId="urn:microsoft.com/office/officeart/2005/8/layout/hierarchy6"/>
    <dgm:cxn modelId="{8E419B0C-59E7-4264-847B-8564D898BC4F}" type="presParOf" srcId="{C5343985-83E8-4D7C-B8EC-352F0A831080}" destId="{519505CC-CF99-459B-A098-5A9CEB31097B}" srcOrd="0" destOrd="0" presId="urn:microsoft.com/office/officeart/2005/8/layout/hierarchy6"/>
    <dgm:cxn modelId="{B8BB0211-099A-4BB4-930B-25D2BAFEDB4B}" type="presParOf" srcId="{C5343985-83E8-4D7C-B8EC-352F0A831080}" destId="{AC7AA3DE-1D73-4838-9305-8A15B7ACDCD6}" srcOrd="1" destOrd="0" presId="urn:microsoft.com/office/officeart/2005/8/layout/hierarchy6"/>
    <dgm:cxn modelId="{685F03B4-6250-40ED-A5D5-2309E6B5B09A}" type="presParOf" srcId="{AC7AA3DE-1D73-4838-9305-8A15B7ACDCD6}" destId="{858F2FD3-058B-4CE4-8B97-7CEC6EB32A1A}" srcOrd="0" destOrd="0" presId="urn:microsoft.com/office/officeart/2005/8/layout/hierarchy6"/>
    <dgm:cxn modelId="{46172CCD-937D-45E7-9FF0-49DF741CC477}" type="presParOf" srcId="{AC7AA3DE-1D73-4838-9305-8A15B7ACDCD6}" destId="{DE502A86-29F2-4EA8-B0C3-45274E0B84B4}" srcOrd="1" destOrd="0" presId="urn:microsoft.com/office/officeart/2005/8/layout/hierarchy6"/>
    <dgm:cxn modelId="{8354B8B6-1208-477C-BFA7-0DE7BD0C35CE}" type="presParOf" srcId="{DE502A86-29F2-4EA8-B0C3-45274E0B84B4}" destId="{6FF11EE2-C613-4891-8160-E9DB5BC0C1F6}" srcOrd="0" destOrd="0" presId="urn:microsoft.com/office/officeart/2005/8/layout/hierarchy6"/>
    <dgm:cxn modelId="{D7DAA8F9-6B73-4441-A635-B85C27523750}" type="presParOf" srcId="{DE502A86-29F2-4EA8-B0C3-45274E0B84B4}" destId="{7A6ED237-DDCA-4490-B6D1-DD041F84E7FE}" srcOrd="1" destOrd="0" presId="urn:microsoft.com/office/officeart/2005/8/layout/hierarchy6"/>
    <dgm:cxn modelId="{2D0B7595-5EFC-4545-8313-7F3DECF2EA23}" type="presParOf" srcId="{AC7AA3DE-1D73-4838-9305-8A15B7ACDCD6}" destId="{98D65F77-35EE-433A-B208-EB8268E0BD49}" srcOrd="2" destOrd="0" presId="urn:microsoft.com/office/officeart/2005/8/layout/hierarchy6"/>
    <dgm:cxn modelId="{6F6A2D15-529F-4422-90B0-54860C4F349D}" type="presParOf" srcId="{AC7AA3DE-1D73-4838-9305-8A15B7ACDCD6}" destId="{C372B8F5-5BFB-40E3-B728-ECF447C848EF}" srcOrd="3" destOrd="0" presId="urn:microsoft.com/office/officeart/2005/8/layout/hierarchy6"/>
    <dgm:cxn modelId="{BD41FA91-2784-4126-B6E0-079E4FB84AB2}" type="presParOf" srcId="{C372B8F5-5BFB-40E3-B728-ECF447C848EF}" destId="{5BB58415-C550-47E3-99E1-5EDC111F3245}" srcOrd="0" destOrd="0" presId="urn:microsoft.com/office/officeart/2005/8/layout/hierarchy6"/>
    <dgm:cxn modelId="{4C4A38F0-A324-4C09-BCB0-92890A0B8DAA}" type="presParOf" srcId="{C372B8F5-5BFB-40E3-B728-ECF447C848EF}" destId="{AEC14A0E-0EAC-4E0E-86CE-62380CDD578C}" srcOrd="1" destOrd="0" presId="urn:microsoft.com/office/officeart/2005/8/layout/hierarchy6"/>
    <dgm:cxn modelId="{DF0B8841-A3F3-4ADE-9A68-1DC65EADAE6B}" type="presParOf" srcId="{78DB1E59-EFEE-49B9-A075-0E3EF8D2F559}" destId="{4891FE16-5619-475D-9627-DA0EF465E78F}"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0E5CED-8709-48B4-B1DC-9EEE977125A7}">
      <dsp:nvSpPr>
        <dsp:cNvPr id="0" name=""/>
        <dsp:cNvSpPr/>
      </dsp:nvSpPr>
      <dsp:spPr>
        <a:xfrm>
          <a:off x="4892199" y="1147736"/>
          <a:ext cx="2081779" cy="120518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IN" sz="1800" kern="1200" dirty="0">
              <a:latin typeface="Helvetica" pitchFamily="2" charset="0"/>
            </a:rPr>
            <a:t>CHURN RATE</a:t>
          </a:r>
        </a:p>
      </dsp:txBody>
      <dsp:txXfrm>
        <a:off x="4927498" y="1183035"/>
        <a:ext cx="2011181" cy="1134589"/>
      </dsp:txXfrm>
    </dsp:sp>
    <dsp:sp modelId="{6D4E9007-119F-4749-B7EE-CCE4F4D610D6}">
      <dsp:nvSpPr>
        <dsp:cNvPr id="0" name=""/>
        <dsp:cNvSpPr/>
      </dsp:nvSpPr>
      <dsp:spPr>
        <a:xfrm>
          <a:off x="1074792" y="2352923"/>
          <a:ext cx="4858296" cy="249143"/>
        </a:xfrm>
        <a:custGeom>
          <a:avLst/>
          <a:gdLst/>
          <a:ahLst/>
          <a:cxnLst/>
          <a:rect l="0" t="0" r="0" b="0"/>
          <a:pathLst>
            <a:path>
              <a:moveTo>
                <a:pt x="4858296" y="0"/>
              </a:moveTo>
              <a:lnTo>
                <a:pt x="4858296" y="124571"/>
              </a:lnTo>
              <a:lnTo>
                <a:pt x="0" y="124571"/>
              </a:lnTo>
              <a:lnTo>
                <a:pt x="0" y="24914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DE9338-8D3E-4BC9-8643-488966EEBD1F}">
      <dsp:nvSpPr>
        <dsp:cNvPr id="0" name=""/>
        <dsp:cNvSpPr/>
      </dsp:nvSpPr>
      <dsp:spPr>
        <a:xfrm>
          <a:off x="607649" y="2602067"/>
          <a:ext cx="934287" cy="622858"/>
        </a:xfrm>
        <a:prstGeom prst="roundRect">
          <a:avLst>
            <a:gd name="adj" fmla="val 10000"/>
          </a:avLst>
        </a:prstGeom>
        <a:solidFill>
          <a:schemeClr val="bg2"/>
        </a:solidFill>
        <a:ln w="28575" cap="flat" cmpd="sng" algn="ctr">
          <a:solidFill>
            <a:schemeClr val="accent1"/>
          </a:solidFill>
          <a:prstDash val="sysDash"/>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IN" sz="1200" kern="1200">
              <a:solidFill>
                <a:schemeClr val="accent1"/>
              </a:solidFill>
              <a:latin typeface="Helvetica" pitchFamily="2" charset="0"/>
            </a:rPr>
            <a:t>Number of Products</a:t>
          </a:r>
        </a:p>
      </dsp:txBody>
      <dsp:txXfrm>
        <a:off x="625892" y="2620310"/>
        <a:ext cx="897801" cy="586372"/>
      </dsp:txXfrm>
    </dsp:sp>
    <dsp:sp modelId="{AEE9A6B6-E240-41DA-83B0-9D9296FFBBD9}">
      <dsp:nvSpPr>
        <dsp:cNvPr id="0" name=""/>
        <dsp:cNvSpPr/>
      </dsp:nvSpPr>
      <dsp:spPr>
        <a:xfrm>
          <a:off x="467505" y="3224925"/>
          <a:ext cx="607287" cy="249143"/>
        </a:xfrm>
        <a:custGeom>
          <a:avLst/>
          <a:gdLst/>
          <a:ahLst/>
          <a:cxnLst/>
          <a:rect l="0" t="0" r="0" b="0"/>
          <a:pathLst>
            <a:path>
              <a:moveTo>
                <a:pt x="607287" y="0"/>
              </a:moveTo>
              <a:lnTo>
                <a:pt x="607287" y="124571"/>
              </a:lnTo>
              <a:lnTo>
                <a:pt x="0" y="124571"/>
              </a:lnTo>
              <a:lnTo>
                <a:pt x="0" y="24914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1C361AB-4651-4CC4-9C11-6165BDABB50D}">
      <dsp:nvSpPr>
        <dsp:cNvPr id="0" name=""/>
        <dsp:cNvSpPr/>
      </dsp:nvSpPr>
      <dsp:spPr>
        <a:xfrm>
          <a:off x="362" y="3474069"/>
          <a:ext cx="934287" cy="622858"/>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IN" sz="900" b="1" kern="1200" dirty="0">
              <a:latin typeface="Helvetica" pitchFamily="2" charset="0"/>
            </a:rPr>
            <a:t>Risky – 4 products</a:t>
          </a:r>
        </a:p>
      </dsp:txBody>
      <dsp:txXfrm>
        <a:off x="18605" y="3492312"/>
        <a:ext cx="897801" cy="586372"/>
      </dsp:txXfrm>
    </dsp:sp>
    <dsp:sp modelId="{611C3D41-0BB0-4A35-BCB3-D195C1FBB310}">
      <dsp:nvSpPr>
        <dsp:cNvPr id="0" name=""/>
        <dsp:cNvSpPr/>
      </dsp:nvSpPr>
      <dsp:spPr>
        <a:xfrm>
          <a:off x="1074792" y="3224925"/>
          <a:ext cx="607287" cy="249143"/>
        </a:xfrm>
        <a:custGeom>
          <a:avLst/>
          <a:gdLst/>
          <a:ahLst/>
          <a:cxnLst/>
          <a:rect l="0" t="0" r="0" b="0"/>
          <a:pathLst>
            <a:path>
              <a:moveTo>
                <a:pt x="0" y="0"/>
              </a:moveTo>
              <a:lnTo>
                <a:pt x="0" y="124571"/>
              </a:lnTo>
              <a:lnTo>
                <a:pt x="607287" y="124571"/>
              </a:lnTo>
              <a:lnTo>
                <a:pt x="607287" y="24914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CFD86BB-C52F-421D-B8CD-A14E6A1440C1}">
      <dsp:nvSpPr>
        <dsp:cNvPr id="0" name=""/>
        <dsp:cNvSpPr/>
      </dsp:nvSpPr>
      <dsp:spPr>
        <a:xfrm>
          <a:off x="1214936" y="3474069"/>
          <a:ext cx="934287" cy="622858"/>
        </a:xfrm>
        <a:prstGeom prst="roundRect">
          <a:avLst>
            <a:gd name="adj" fmla="val 10000"/>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IN" sz="900" b="1" kern="1200" dirty="0">
              <a:latin typeface="Helvetica" pitchFamily="2" charset="0"/>
            </a:rPr>
            <a:t>Safe – 2 products</a:t>
          </a:r>
        </a:p>
      </dsp:txBody>
      <dsp:txXfrm>
        <a:off x="1233179" y="3492312"/>
        <a:ext cx="897801" cy="586372"/>
      </dsp:txXfrm>
    </dsp:sp>
    <dsp:sp modelId="{8C7AC658-D7AD-4B8E-819C-50DCE8013BF7}">
      <dsp:nvSpPr>
        <dsp:cNvPr id="0" name=""/>
        <dsp:cNvSpPr/>
      </dsp:nvSpPr>
      <dsp:spPr>
        <a:xfrm>
          <a:off x="3503940" y="2352923"/>
          <a:ext cx="2429148" cy="249143"/>
        </a:xfrm>
        <a:custGeom>
          <a:avLst/>
          <a:gdLst/>
          <a:ahLst/>
          <a:cxnLst/>
          <a:rect l="0" t="0" r="0" b="0"/>
          <a:pathLst>
            <a:path>
              <a:moveTo>
                <a:pt x="2429148" y="0"/>
              </a:moveTo>
              <a:lnTo>
                <a:pt x="2429148" y="124571"/>
              </a:lnTo>
              <a:lnTo>
                <a:pt x="0" y="124571"/>
              </a:lnTo>
              <a:lnTo>
                <a:pt x="0" y="24914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FAE39A6-3588-4410-A678-1B41C2102585}">
      <dsp:nvSpPr>
        <dsp:cNvPr id="0" name=""/>
        <dsp:cNvSpPr/>
      </dsp:nvSpPr>
      <dsp:spPr>
        <a:xfrm>
          <a:off x="3036797" y="2602067"/>
          <a:ext cx="934287" cy="622858"/>
        </a:xfrm>
        <a:prstGeom prst="roundRect">
          <a:avLst>
            <a:gd name="adj" fmla="val 10000"/>
          </a:avLst>
        </a:prstGeom>
        <a:solidFill>
          <a:schemeClr val="bg2"/>
        </a:solidFill>
        <a:ln w="28575" cap="flat" cmpd="sng" algn="ctr">
          <a:solidFill>
            <a:schemeClr val="accent1"/>
          </a:solidFill>
          <a:prstDash val="sysDash"/>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IN" sz="1200" kern="1200" dirty="0">
              <a:solidFill>
                <a:schemeClr val="accent1"/>
              </a:solidFill>
              <a:latin typeface="Helvetica" pitchFamily="2" charset="0"/>
            </a:rPr>
            <a:t>Age Group </a:t>
          </a:r>
        </a:p>
      </dsp:txBody>
      <dsp:txXfrm>
        <a:off x="3055040" y="2620310"/>
        <a:ext cx="897801" cy="586372"/>
      </dsp:txXfrm>
    </dsp:sp>
    <dsp:sp modelId="{F2C7E39E-1CDF-4516-A3C0-76E175F21F3C}">
      <dsp:nvSpPr>
        <dsp:cNvPr id="0" name=""/>
        <dsp:cNvSpPr/>
      </dsp:nvSpPr>
      <dsp:spPr>
        <a:xfrm>
          <a:off x="2896653" y="3224925"/>
          <a:ext cx="607287" cy="249143"/>
        </a:xfrm>
        <a:custGeom>
          <a:avLst/>
          <a:gdLst/>
          <a:ahLst/>
          <a:cxnLst/>
          <a:rect l="0" t="0" r="0" b="0"/>
          <a:pathLst>
            <a:path>
              <a:moveTo>
                <a:pt x="607287" y="0"/>
              </a:moveTo>
              <a:lnTo>
                <a:pt x="607287" y="124571"/>
              </a:lnTo>
              <a:lnTo>
                <a:pt x="0" y="124571"/>
              </a:lnTo>
              <a:lnTo>
                <a:pt x="0" y="24914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D403B9C-BFF1-40B4-8437-0641824C3D81}">
      <dsp:nvSpPr>
        <dsp:cNvPr id="0" name=""/>
        <dsp:cNvSpPr/>
      </dsp:nvSpPr>
      <dsp:spPr>
        <a:xfrm>
          <a:off x="2429510" y="3474069"/>
          <a:ext cx="934287" cy="622858"/>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IN" sz="900" b="1" kern="1200" dirty="0">
              <a:latin typeface="Helvetica" pitchFamily="2" charset="0"/>
            </a:rPr>
            <a:t>Risky – Senior Citizens (50+)</a:t>
          </a:r>
        </a:p>
      </dsp:txBody>
      <dsp:txXfrm>
        <a:off x="2447753" y="3492312"/>
        <a:ext cx="897801" cy="586372"/>
      </dsp:txXfrm>
    </dsp:sp>
    <dsp:sp modelId="{B082A2F4-D458-4703-B092-C4978A5EF073}">
      <dsp:nvSpPr>
        <dsp:cNvPr id="0" name=""/>
        <dsp:cNvSpPr/>
      </dsp:nvSpPr>
      <dsp:spPr>
        <a:xfrm>
          <a:off x="3503940" y="3224925"/>
          <a:ext cx="607287" cy="249143"/>
        </a:xfrm>
        <a:custGeom>
          <a:avLst/>
          <a:gdLst/>
          <a:ahLst/>
          <a:cxnLst/>
          <a:rect l="0" t="0" r="0" b="0"/>
          <a:pathLst>
            <a:path>
              <a:moveTo>
                <a:pt x="0" y="0"/>
              </a:moveTo>
              <a:lnTo>
                <a:pt x="0" y="124571"/>
              </a:lnTo>
              <a:lnTo>
                <a:pt x="607287" y="124571"/>
              </a:lnTo>
              <a:lnTo>
                <a:pt x="607287" y="24914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6F3CEE-B450-4FD6-A327-89B096C4E23C}">
      <dsp:nvSpPr>
        <dsp:cNvPr id="0" name=""/>
        <dsp:cNvSpPr/>
      </dsp:nvSpPr>
      <dsp:spPr>
        <a:xfrm>
          <a:off x="3644084" y="3474069"/>
          <a:ext cx="934287" cy="622858"/>
        </a:xfrm>
        <a:prstGeom prst="roundRect">
          <a:avLst>
            <a:gd name="adj" fmla="val 10000"/>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IN" sz="900" b="1" kern="1200">
              <a:latin typeface="Helvetica" pitchFamily="2" charset="0"/>
            </a:rPr>
            <a:t>Safe – Young Adults (18-30)</a:t>
          </a:r>
        </a:p>
      </dsp:txBody>
      <dsp:txXfrm>
        <a:off x="3662327" y="3492312"/>
        <a:ext cx="897801" cy="586372"/>
      </dsp:txXfrm>
    </dsp:sp>
    <dsp:sp modelId="{23531883-7BB1-4AF4-AAEF-56069EA40AAA}">
      <dsp:nvSpPr>
        <dsp:cNvPr id="0" name=""/>
        <dsp:cNvSpPr/>
      </dsp:nvSpPr>
      <dsp:spPr>
        <a:xfrm>
          <a:off x="5887368" y="2352923"/>
          <a:ext cx="91440" cy="249143"/>
        </a:xfrm>
        <a:custGeom>
          <a:avLst/>
          <a:gdLst/>
          <a:ahLst/>
          <a:cxnLst/>
          <a:rect l="0" t="0" r="0" b="0"/>
          <a:pathLst>
            <a:path>
              <a:moveTo>
                <a:pt x="45720" y="0"/>
              </a:moveTo>
              <a:lnTo>
                <a:pt x="45720" y="24914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C4E23E1-97E5-482A-8677-E55003B68DEC}">
      <dsp:nvSpPr>
        <dsp:cNvPr id="0" name=""/>
        <dsp:cNvSpPr/>
      </dsp:nvSpPr>
      <dsp:spPr>
        <a:xfrm>
          <a:off x="5465945" y="2602067"/>
          <a:ext cx="934287" cy="622858"/>
        </a:xfrm>
        <a:prstGeom prst="roundRect">
          <a:avLst>
            <a:gd name="adj" fmla="val 10000"/>
          </a:avLst>
        </a:prstGeom>
        <a:solidFill>
          <a:schemeClr val="bg2"/>
        </a:solidFill>
        <a:ln w="28575" cap="flat" cmpd="sng" algn="ctr">
          <a:solidFill>
            <a:schemeClr val="accent1"/>
          </a:solidFill>
          <a:prstDash val="sysDash"/>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IN" sz="1200" kern="1200">
              <a:solidFill>
                <a:schemeClr val="accent1"/>
              </a:solidFill>
              <a:latin typeface="Helvetica" pitchFamily="2" charset="0"/>
            </a:rPr>
            <a:t>Location </a:t>
          </a:r>
        </a:p>
      </dsp:txBody>
      <dsp:txXfrm>
        <a:off x="5484188" y="2620310"/>
        <a:ext cx="897801" cy="586372"/>
      </dsp:txXfrm>
    </dsp:sp>
    <dsp:sp modelId="{21E5417B-9294-4E6B-8F6E-29429E46B3DD}">
      <dsp:nvSpPr>
        <dsp:cNvPr id="0" name=""/>
        <dsp:cNvSpPr/>
      </dsp:nvSpPr>
      <dsp:spPr>
        <a:xfrm>
          <a:off x="5325801" y="3224925"/>
          <a:ext cx="607287" cy="249143"/>
        </a:xfrm>
        <a:custGeom>
          <a:avLst/>
          <a:gdLst/>
          <a:ahLst/>
          <a:cxnLst/>
          <a:rect l="0" t="0" r="0" b="0"/>
          <a:pathLst>
            <a:path>
              <a:moveTo>
                <a:pt x="607287" y="0"/>
              </a:moveTo>
              <a:lnTo>
                <a:pt x="607287" y="124571"/>
              </a:lnTo>
              <a:lnTo>
                <a:pt x="0" y="124571"/>
              </a:lnTo>
              <a:lnTo>
                <a:pt x="0" y="24914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4696092-7BFB-4C6E-8B8D-CFF005611B89}">
      <dsp:nvSpPr>
        <dsp:cNvPr id="0" name=""/>
        <dsp:cNvSpPr/>
      </dsp:nvSpPr>
      <dsp:spPr>
        <a:xfrm>
          <a:off x="4858658" y="3474069"/>
          <a:ext cx="934287" cy="622858"/>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IN" sz="900" b="1" kern="1200">
              <a:latin typeface="Helvetica" pitchFamily="2" charset="0"/>
            </a:rPr>
            <a:t>Risky – Germany</a:t>
          </a:r>
        </a:p>
      </dsp:txBody>
      <dsp:txXfrm>
        <a:off x="4876901" y="3492312"/>
        <a:ext cx="897801" cy="586372"/>
      </dsp:txXfrm>
    </dsp:sp>
    <dsp:sp modelId="{4751586E-60B8-4D8C-80C7-9734B1A2E8D3}">
      <dsp:nvSpPr>
        <dsp:cNvPr id="0" name=""/>
        <dsp:cNvSpPr/>
      </dsp:nvSpPr>
      <dsp:spPr>
        <a:xfrm>
          <a:off x="5933089" y="3224925"/>
          <a:ext cx="607287" cy="249143"/>
        </a:xfrm>
        <a:custGeom>
          <a:avLst/>
          <a:gdLst/>
          <a:ahLst/>
          <a:cxnLst/>
          <a:rect l="0" t="0" r="0" b="0"/>
          <a:pathLst>
            <a:path>
              <a:moveTo>
                <a:pt x="0" y="0"/>
              </a:moveTo>
              <a:lnTo>
                <a:pt x="0" y="124571"/>
              </a:lnTo>
              <a:lnTo>
                <a:pt x="607287" y="124571"/>
              </a:lnTo>
              <a:lnTo>
                <a:pt x="607287" y="24914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4ED9D10-C58B-4221-B595-AF39BA6FE905}">
      <dsp:nvSpPr>
        <dsp:cNvPr id="0" name=""/>
        <dsp:cNvSpPr/>
      </dsp:nvSpPr>
      <dsp:spPr>
        <a:xfrm>
          <a:off x="6073232" y="3474069"/>
          <a:ext cx="934287" cy="622858"/>
        </a:xfrm>
        <a:prstGeom prst="roundRect">
          <a:avLst>
            <a:gd name="adj" fmla="val 10000"/>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IN" sz="900" b="1" kern="1200">
              <a:latin typeface="Helvetica" pitchFamily="2" charset="0"/>
            </a:rPr>
            <a:t>Safe – France </a:t>
          </a:r>
        </a:p>
      </dsp:txBody>
      <dsp:txXfrm>
        <a:off x="6091475" y="3492312"/>
        <a:ext cx="897801" cy="586372"/>
      </dsp:txXfrm>
    </dsp:sp>
    <dsp:sp modelId="{07E4BE0B-B3C5-4847-9376-2DFA6A2DB9DB}">
      <dsp:nvSpPr>
        <dsp:cNvPr id="0" name=""/>
        <dsp:cNvSpPr/>
      </dsp:nvSpPr>
      <dsp:spPr>
        <a:xfrm>
          <a:off x="5933088" y="2352923"/>
          <a:ext cx="2429148" cy="249143"/>
        </a:xfrm>
        <a:custGeom>
          <a:avLst/>
          <a:gdLst/>
          <a:ahLst/>
          <a:cxnLst/>
          <a:rect l="0" t="0" r="0" b="0"/>
          <a:pathLst>
            <a:path>
              <a:moveTo>
                <a:pt x="0" y="0"/>
              </a:moveTo>
              <a:lnTo>
                <a:pt x="0" y="124571"/>
              </a:lnTo>
              <a:lnTo>
                <a:pt x="2429148" y="124571"/>
              </a:lnTo>
              <a:lnTo>
                <a:pt x="2429148" y="24914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F3F478-DCD2-4933-8DE9-FCB3C5A26C35}">
      <dsp:nvSpPr>
        <dsp:cNvPr id="0" name=""/>
        <dsp:cNvSpPr/>
      </dsp:nvSpPr>
      <dsp:spPr>
        <a:xfrm>
          <a:off x="7895093" y="2602067"/>
          <a:ext cx="934287" cy="622858"/>
        </a:xfrm>
        <a:prstGeom prst="roundRect">
          <a:avLst>
            <a:gd name="adj" fmla="val 10000"/>
          </a:avLst>
        </a:prstGeom>
        <a:solidFill>
          <a:schemeClr val="bg2"/>
        </a:solidFill>
        <a:ln w="28575" cap="flat" cmpd="sng" algn="ctr">
          <a:solidFill>
            <a:schemeClr val="accent1"/>
          </a:solidFill>
          <a:prstDash val="sysDash"/>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IN" sz="1200" kern="1200">
              <a:solidFill>
                <a:schemeClr val="accent1"/>
              </a:solidFill>
              <a:latin typeface="Helvetica" pitchFamily="2" charset="0"/>
            </a:rPr>
            <a:t>User Activity</a:t>
          </a:r>
        </a:p>
      </dsp:txBody>
      <dsp:txXfrm>
        <a:off x="7913336" y="2620310"/>
        <a:ext cx="897801" cy="586372"/>
      </dsp:txXfrm>
    </dsp:sp>
    <dsp:sp modelId="{83EEEEF0-5480-409A-B84F-53606C1B7DFF}">
      <dsp:nvSpPr>
        <dsp:cNvPr id="0" name=""/>
        <dsp:cNvSpPr/>
      </dsp:nvSpPr>
      <dsp:spPr>
        <a:xfrm>
          <a:off x="7754950" y="3224925"/>
          <a:ext cx="607287" cy="249143"/>
        </a:xfrm>
        <a:custGeom>
          <a:avLst/>
          <a:gdLst/>
          <a:ahLst/>
          <a:cxnLst/>
          <a:rect l="0" t="0" r="0" b="0"/>
          <a:pathLst>
            <a:path>
              <a:moveTo>
                <a:pt x="607287" y="0"/>
              </a:moveTo>
              <a:lnTo>
                <a:pt x="607287" y="124571"/>
              </a:lnTo>
              <a:lnTo>
                <a:pt x="0" y="124571"/>
              </a:lnTo>
              <a:lnTo>
                <a:pt x="0" y="24914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A3E7366-3FF9-452D-8DB3-B8A0223A2C7B}">
      <dsp:nvSpPr>
        <dsp:cNvPr id="0" name=""/>
        <dsp:cNvSpPr/>
      </dsp:nvSpPr>
      <dsp:spPr>
        <a:xfrm>
          <a:off x="7287806" y="3474069"/>
          <a:ext cx="934287" cy="622858"/>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IN" sz="900" b="1" kern="1200">
              <a:latin typeface="Helvetica" pitchFamily="2" charset="0"/>
            </a:rPr>
            <a:t>Risky – Inactive</a:t>
          </a:r>
        </a:p>
      </dsp:txBody>
      <dsp:txXfrm>
        <a:off x="7306049" y="3492312"/>
        <a:ext cx="897801" cy="586372"/>
      </dsp:txXfrm>
    </dsp:sp>
    <dsp:sp modelId="{16F97F5A-E14E-44F6-B0A3-0EA1E048B4BC}">
      <dsp:nvSpPr>
        <dsp:cNvPr id="0" name=""/>
        <dsp:cNvSpPr/>
      </dsp:nvSpPr>
      <dsp:spPr>
        <a:xfrm>
          <a:off x="8362237" y="3224925"/>
          <a:ext cx="607287" cy="249143"/>
        </a:xfrm>
        <a:custGeom>
          <a:avLst/>
          <a:gdLst/>
          <a:ahLst/>
          <a:cxnLst/>
          <a:rect l="0" t="0" r="0" b="0"/>
          <a:pathLst>
            <a:path>
              <a:moveTo>
                <a:pt x="0" y="0"/>
              </a:moveTo>
              <a:lnTo>
                <a:pt x="0" y="124571"/>
              </a:lnTo>
              <a:lnTo>
                <a:pt x="607287" y="124571"/>
              </a:lnTo>
              <a:lnTo>
                <a:pt x="607287" y="24914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BD25873-9DD9-4085-A001-EF79FA3AC609}">
      <dsp:nvSpPr>
        <dsp:cNvPr id="0" name=""/>
        <dsp:cNvSpPr/>
      </dsp:nvSpPr>
      <dsp:spPr>
        <a:xfrm>
          <a:off x="8502380" y="3474069"/>
          <a:ext cx="934287" cy="622858"/>
        </a:xfrm>
        <a:prstGeom prst="roundRect">
          <a:avLst>
            <a:gd name="adj" fmla="val 10000"/>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IN" sz="900" b="1" kern="1200">
              <a:latin typeface="Helvetica" pitchFamily="2" charset="0"/>
            </a:rPr>
            <a:t>Safe – Active</a:t>
          </a:r>
        </a:p>
      </dsp:txBody>
      <dsp:txXfrm>
        <a:off x="8520623" y="3492312"/>
        <a:ext cx="897801" cy="586372"/>
      </dsp:txXfrm>
    </dsp:sp>
    <dsp:sp modelId="{C31AECA8-BE80-4614-8874-E9C998F574A0}">
      <dsp:nvSpPr>
        <dsp:cNvPr id="0" name=""/>
        <dsp:cNvSpPr/>
      </dsp:nvSpPr>
      <dsp:spPr>
        <a:xfrm>
          <a:off x="5933088" y="2352923"/>
          <a:ext cx="4858296" cy="249143"/>
        </a:xfrm>
        <a:custGeom>
          <a:avLst/>
          <a:gdLst/>
          <a:ahLst/>
          <a:cxnLst/>
          <a:rect l="0" t="0" r="0" b="0"/>
          <a:pathLst>
            <a:path>
              <a:moveTo>
                <a:pt x="0" y="0"/>
              </a:moveTo>
              <a:lnTo>
                <a:pt x="0" y="124571"/>
              </a:lnTo>
              <a:lnTo>
                <a:pt x="4858296" y="124571"/>
              </a:lnTo>
              <a:lnTo>
                <a:pt x="4858296" y="24914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19505CC-CF99-459B-A098-5A9CEB31097B}">
      <dsp:nvSpPr>
        <dsp:cNvPr id="0" name=""/>
        <dsp:cNvSpPr/>
      </dsp:nvSpPr>
      <dsp:spPr>
        <a:xfrm>
          <a:off x="10324241" y="2602067"/>
          <a:ext cx="934287" cy="622858"/>
        </a:xfrm>
        <a:prstGeom prst="roundRect">
          <a:avLst>
            <a:gd name="adj" fmla="val 10000"/>
          </a:avLst>
        </a:prstGeom>
        <a:solidFill>
          <a:schemeClr val="bg2"/>
        </a:solidFill>
        <a:ln w="28575" cap="flat" cmpd="sng" algn="ctr">
          <a:solidFill>
            <a:schemeClr val="accent1"/>
          </a:solidFill>
          <a:prstDash val="sysDash"/>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IN" sz="1200" kern="1200">
              <a:solidFill>
                <a:schemeClr val="accent1"/>
              </a:solidFill>
              <a:latin typeface="Helvetica" pitchFamily="2" charset="0"/>
            </a:rPr>
            <a:t>Gender </a:t>
          </a:r>
        </a:p>
      </dsp:txBody>
      <dsp:txXfrm>
        <a:off x="10342484" y="2620310"/>
        <a:ext cx="897801" cy="586372"/>
      </dsp:txXfrm>
    </dsp:sp>
    <dsp:sp modelId="{858F2FD3-058B-4CE4-8B97-7CEC6EB32A1A}">
      <dsp:nvSpPr>
        <dsp:cNvPr id="0" name=""/>
        <dsp:cNvSpPr/>
      </dsp:nvSpPr>
      <dsp:spPr>
        <a:xfrm>
          <a:off x="10184098" y="3224925"/>
          <a:ext cx="607287" cy="249143"/>
        </a:xfrm>
        <a:custGeom>
          <a:avLst/>
          <a:gdLst/>
          <a:ahLst/>
          <a:cxnLst/>
          <a:rect l="0" t="0" r="0" b="0"/>
          <a:pathLst>
            <a:path>
              <a:moveTo>
                <a:pt x="607287" y="0"/>
              </a:moveTo>
              <a:lnTo>
                <a:pt x="607287" y="124571"/>
              </a:lnTo>
              <a:lnTo>
                <a:pt x="0" y="124571"/>
              </a:lnTo>
              <a:lnTo>
                <a:pt x="0" y="24914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F11EE2-C613-4891-8160-E9DB5BC0C1F6}">
      <dsp:nvSpPr>
        <dsp:cNvPr id="0" name=""/>
        <dsp:cNvSpPr/>
      </dsp:nvSpPr>
      <dsp:spPr>
        <a:xfrm>
          <a:off x="9716954" y="3474069"/>
          <a:ext cx="934287" cy="622858"/>
        </a:xfrm>
        <a:prstGeom prst="roundRect">
          <a:avLst>
            <a:gd name="adj" fmla="val 10000"/>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IN" sz="900" b="1" kern="1200">
              <a:latin typeface="Helvetica" pitchFamily="2" charset="0"/>
            </a:rPr>
            <a:t>Risky – Female</a:t>
          </a:r>
        </a:p>
      </dsp:txBody>
      <dsp:txXfrm>
        <a:off x="9735197" y="3492312"/>
        <a:ext cx="897801" cy="586372"/>
      </dsp:txXfrm>
    </dsp:sp>
    <dsp:sp modelId="{98D65F77-35EE-433A-B208-EB8268E0BD49}">
      <dsp:nvSpPr>
        <dsp:cNvPr id="0" name=""/>
        <dsp:cNvSpPr/>
      </dsp:nvSpPr>
      <dsp:spPr>
        <a:xfrm>
          <a:off x="10791385" y="3224925"/>
          <a:ext cx="607287" cy="249143"/>
        </a:xfrm>
        <a:custGeom>
          <a:avLst/>
          <a:gdLst/>
          <a:ahLst/>
          <a:cxnLst/>
          <a:rect l="0" t="0" r="0" b="0"/>
          <a:pathLst>
            <a:path>
              <a:moveTo>
                <a:pt x="0" y="0"/>
              </a:moveTo>
              <a:lnTo>
                <a:pt x="0" y="124571"/>
              </a:lnTo>
              <a:lnTo>
                <a:pt x="607287" y="124571"/>
              </a:lnTo>
              <a:lnTo>
                <a:pt x="607287" y="24914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BB58415-C550-47E3-99E1-5EDC111F3245}">
      <dsp:nvSpPr>
        <dsp:cNvPr id="0" name=""/>
        <dsp:cNvSpPr/>
      </dsp:nvSpPr>
      <dsp:spPr>
        <a:xfrm>
          <a:off x="10931528" y="3474069"/>
          <a:ext cx="934287" cy="622858"/>
        </a:xfrm>
        <a:prstGeom prst="roundRect">
          <a:avLst>
            <a:gd name="adj" fmla="val 10000"/>
          </a:avLst>
        </a:prstGeom>
        <a:solidFill>
          <a:schemeClr val="accent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400050">
            <a:lnSpc>
              <a:spcPct val="90000"/>
            </a:lnSpc>
            <a:spcBef>
              <a:spcPct val="0"/>
            </a:spcBef>
            <a:spcAft>
              <a:spcPct val="35000"/>
            </a:spcAft>
          </a:pPr>
          <a:r>
            <a:rPr lang="en-IN" sz="900" b="1" kern="1200">
              <a:latin typeface="Helvetica" pitchFamily="2" charset="0"/>
            </a:rPr>
            <a:t>Safe – Male</a:t>
          </a:r>
        </a:p>
      </dsp:txBody>
      <dsp:txXfrm>
        <a:off x="10949771" y="3492312"/>
        <a:ext cx="897801" cy="58637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7E35780-321E-69C3-42C8-534A758836BF}"/>
              </a:ext>
            </a:extLst>
          </p:cNvPr>
          <p:cNvSpPr/>
          <p:nvPr userDrawn="1"/>
        </p:nvSpPr>
        <p:spPr>
          <a:xfrm>
            <a:off x="0" y="0"/>
            <a:ext cx="12192000" cy="90000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5C00F7A2-54C7-DF73-F186-FD8EC3F9C80B}"/>
              </a:ext>
            </a:extLst>
          </p:cNvPr>
          <p:cNvSpPr/>
          <p:nvPr userDrawn="1"/>
        </p:nvSpPr>
        <p:spPr>
          <a:xfrm>
            <a:off x="0" y="0"/>
            <a:ext cx="12192000" cy="82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0B8DFF1D-D66B-43A8-D9E1-B65C431AF64B}"/>
              </a:ext>
            </a:extLst>
          </p:cNvPr>
          <p:cNvSpPr/>
          <p:nvPr userDrawn="1"/>
        </p:nvSpPr>
        <p:spPr>
          <a:xfrm>
            <a:off x="0" y="-2"/>
            <a:ext cx="12192000" cy="756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75F02FE2-3EAF-E4F8-C408-7D14F0FBF570}"/>
              </a:ext>
            </a:extLst>
          </p:cNvPr>
          <p:cNvSpPr/>
          <p:nvPr userDrawn="1"/>
        </p:nvSpPr>
        <p:spPr>
          <a:xfrm>
            <a:off x="0" y="6390968"/>
            <a:ext cx="12192000" cy="467032"/>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Slide Number Placeholder 5">
            <a:extLst>
              <a:ext uri="{FF2B5EF4-FFF2-40B4-BE49-F238E27FC236}">
                <a16:creationId xmlns:a16="http://schemas.microsoft.com/office/drawing/2014/main" id="{ADD3FFCA-9058-7E17-3369-0C9B62B7636B}"/>
              </a:ext>
            </a:extLst>
          </p:cNvPr>
          <p:cNvSpPr>
            <a:spLocks noGrp="1"/>
          </p:cNvSpPr>
          <p:nvPr>
            <p:ph type="sldNum" sz="quarter" idx="12"/>
          </p:nvPr>
        </p:nvSpPr>
        <p:spPr>
          <a:xfrm>
            <a:off x="11002294" y="6444276"/>
            <a:ext cx="1138085" cy="365125"/>
          </a:xfrm>
        </p:spPr>
        <p:txBody>
          <a:bodyPr/>
          <a:lstStyle>
            <a:lvl1pPr>
              <a:defRPr sz="1000">
                <a:latin typeface="Helvetica" pitchFamily="2" charset="0"/>
              </a:defRPr>
            </a:lvl1pPr>
          </a:lstStyle>
          <a:p>
            <a:fld id="{AF5E9633-BCA5-4E17-935B-18F56ACA705B}" type="slidenum">
              <a:rPr lang="en-IN" smtClean="0"/>
              <a:pPr/>
              <a:t>‹#›</a:t>
            </a:fld>
            <a:endParaRPr lang="en-IN"/>
          </a:p>
        </p:txBody>
      </p:sp>
    </p:spTree>
    <p:extLst>
      <p:ext uri="{BB962C8B-B14F-4D97-AF65-F5344CB8AC3E}">
        <p14:creationId xmlns:p14="http://schemas.microsoft.com/office/powerpoint/2010/main" val="3993522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7E35780-321E-69C3-42C8-534A758836BF}"/>
              </a:ext>
            </a:extLst>
          </p:cNvPr>
          <p:cNvSpPr/>
          <p:nvPr userDrawn="1"/>
        </p:nvSpPr>
        <p:spPr>
          <a:xfrm>
            <a:off x="0" y="0"/>
            <a:ext cx="12192000" cy="900000"/>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5C00F7A2-54C7-DF73-F186-FD8EC3F9C80B}"/>
              </a:ext>
            </a:extLst>
          </p:cNvPr>
          <p:cNvSpPr/>
          <p:nvPr userDrawn="1"/>
        </p:nvSpPr>
        <p:spPr>
          <a:xfrm>
            <a:off x="0" y="0"/>
            <a:ext cx="12192000" cy="82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0B8DFF1D-D66B-43A8-D9E1-B65C431AF64B}"/>
              </a:ext>
            </a:extLst>
          </p:cNvPr>
          <p:cNvSpPr/>
          <p:nvPr userDrawn="1"/>
        </p:nvSpPr>
        <p:spPr>
          <a:xfrm>
            <a:off x="0" y="-2"/>
            <a:ext cx="12192000" cy="756000"/>
          </a:xfrm>
          <a:prstGeom prst="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75F02FE2-3EAF-E4F8-C408-7D14F0FBF570}"/>
              </a:ext>
            </a:extLst>
          </p:cNvPr>
          <p:cNvSpPr/>
          <p:nvPr userDrawn="1"/>
        </p:nvSpPr>
        <p:spPr>
          <a:xfrm>
            <a:off x="0" y="6390968"/>
            <a:ext cx="12192000" cy="467032"/>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56709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287C9C91-84B5-5EA9-91DD-85F78D4EE5A8}"/>
              </a:ext>
            </a:extLst>
          </p:cNvPr>
          <p:cNvSpPr/>
          <p:nvPr userDrawn="1"/>
        </p:nvSpPr>
        <p:spPr>
          <a:xfrm>
            <a:off x="0" y="0"/>
            <a:ext cx="4562168" cy="6858000"/>
          </a:xfrm>
          <a:custGeom>
            <a:avLst/>
            <a:gdLst>
              <a:gd name="connsiteX0" fmla="*/ 2281084 w 4562168"/>
              <a:gd name="connsiteY0" fmla="*/ 2136058 h 6858000"/>
              <a:gd name="connsiteX1" fmla="*/ 988142 w 4562168"/>
              <a:gd name="connsiteY1" fmla="*/ 3429000 h 6858000"/>
              <a:gd name="connsiteX2" fmla="*/ 2281084 w 4562168"/>
              <a:gd name="connsiteY2" fmla="*/ 4721942 h 6858000"/>
              <a:gd name="connsiteX3" fmla="*/ 3574026 w 4562168"/>
              <a:gd name="connsiteY3" fmla="*/ 3429000 h 6858000"/>
              <a:gd name="connsiteX4" fmla="*/ 2281084 w 4562168"/>
              <a:gd name="connsiteY4" fmla="*/ 2136058 h 6858000"/>
              <a:gd name="connsiteX5" fmla="*/ 0 w 4562168"/>
              <a:gd name="connsiteY5" fmla="*/ 0 h 6858000"/>
              <a:gd name="connsiteX6" fmla="*/ 4562168 w 4562168"/>
              <a:gd name="connsiteY6" fmla="*/ 0 h 6858000"/>
              <a:gd name="connsiteX7" fmla="*/ 4562168 w 4562168"/>
              <a:gd name="connsiteY7" fmla="*/ 6858000 h 6858000"/>
              <a:gd name="connsiteX8" fmla="*/ 0 w 4562168"/>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62168" h="6858000">
                <a:moveTo>
                  <a:pt x="2281084" y="2136058"/>
                </a:moveTo>
                <a:cubicBezTo>
                  <a:pt x="1567012" y="2136058"/>
                  <a:pt x="988142" y="2714928"/>
                  <a:pt x="988142" y="3429000"/>
                </a:cubicBezTo>
                <a:cubicBezTo>
                  <a:pt x="988142" y="4143072"/>
                  <a:pt x="1567012" y="4721942"/>
                  <a:pt x="2281084" y="4721942"/>
                </a:cubicBezTo>
                <a:cubicBezTo>
                  <a:pt x="2995156" y="4721942"/>
                  <a:pt x="3574026" y="4143072"/>
                  <a:pt x="3574026" y="3429000"/>
                </a:cubicBezTo>
                <a:cubicBezTo>
                  <a:pt x="3574026" y="2714928"/>
                  <a:pt x="2995156" y="2136058"/>
                  <a:pt x="2281084" y="2136058"/>
                </a:cubicBezTo>
                <a:close/>
                <a:moveTo>
                  <a:pt x="0" y="0"/>
                </a:moveTo>
                <a:lnTo>
                  <a:pt x="4562168" y="0"/>
                </a:lnTo>
                <a:lnTo>
                  <a:pt x="4562168" y="6858000"/>
                </a:lnTo>
                <a:lnTo>
                  <a:pt x="0" y="6858000"/>
                </a:lnTo>
                <a:close/>
              </a:path>
            </a:pathLst>
          </a:cu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539220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6EA87-E5F6-9624-8151-0E83138A57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A6C48B3-880E-1C51-2321-80EB994D4F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BDE305-2FD5-E7ED-E65B-5CE3B829FD60}"/>
              </a:ext>
            </a:extLst>
          </p:cNvPr>
          <p:cNvSpPr>
            <a:spLocks noGrp="1"/>
          </p:cNvSpPr>
          <p:nvPr>
            <p:ph type="dt" sz="half" idx="10"/>
          </p:nvPr>
        </p:nvSpPr>
        <p:spPr/>
        <p:txBody>
          <a:bodyPr/>
          <a:lstStyle/>
          <a:p>
            <a:fld id="{76CF251D-9F6C-4B91-8DEA-BB416800A9D7}" type="datetimeFigureOut">
              <a:rPr lang="en-IN" smtClean="0"/>
              <a:t>02-04-2026</a:t>
            </a:fld>
            <a:endParaRPr lang="en-IN"/>
          </a:p>
        </p:txBody>
      </p:sp>
      <p:sp>
        <p:nvSpPr>
          <p:cNvPr id="5" name="Footer Placeholder 4">
            <a:extLst>
              <a:ext uri="{FF2B5EF4-FFF2-40B4-BE49-F238E27FC236}">
                <a16:creationId xmlns:a16="http://schemas.microsoft.com/office/drawing/2014/main" id="{C84DB706-0FB6-C605-9D24-164F530418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65F080-EB2C-690E-A2ED-7AFAD4A61AFE}"/>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563737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CE326-2731-11AC-D55B-72F87C78A6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F0E2766-2E8C-B1A5-CD3C-12716477B5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C72158-5B59-4119-5343-5E3103F455CD}"/>
              </a:ext>
            </a:extLst>
          </p:cNvPr>
          <p:cNvSpPr>
            <a:spLocks noGrp="1"/>
          </p:cNvSpPr>
          <p:nvPr>
            <p:ph type="dt" sz="half" idx="10"/>
          </p:nvPr>
        </p:nvSpPr>
        <p:spPr/>
        <p:txBody>
          <a:bodyPr/>
          <a:lstStyle/>
          <a:p>
            <a:fld id="{76CF251D-9F6C-4B91-8DEA-BB416800A9D7}" type="datetimeFigureOut">
              <a:rPr lang="en-IN" smtClean="0"/>
              <a:t>02-04-2026</a:t>
            </a:fld>
            <a:endParaRPr lang="en-IN"/>
          </a:p>
        </p:txBody>
      </p:sp>
      <p:sp>
        <p:nvSpPr>
          <p:cNvPr id="5" name="Footer Placeholder 4">
            <a:extLst>
              <a:ext uri="{FF2B5EF4-FFF2-40B4-BE49-F238E27FC236}">
                <a16:creationId xmlns:a16="http://schemas.microsoft.com/office/drawing/2014/main" id="{107180EA-5F76-0C01-CABF-0545542E0F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AA0516-6363-425F-AC65-B1D7FD124979}"/>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1051223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C9D11-E40D-A31B-C40F-C5AF459750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908542-0102-4D9C-B965-8C7421C747E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01B806B-EFD9-1D0B-53C6-1CFCE8AF600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1E9EB1E-1B1A-C1AA-B608-F4002C7AF556}"/>
              </a:ext>
            </a:extLst>
          </p:cNvPr>
          <p:cNvSpPr>
            <a:spLocks noGrp="1"/>
          </p:cNvSpPr>
          <p:nvPr>
            <p:ph type="dt" sz="half" idx="10"/>
          </p:nvPr>
        </p:nvSpPr>
        <p:spPr/>
        <p:txBody>
          <a:bodyPr/>
          <a:lstStyle/>
          <a:p>
            <a:fld id="{76CF251D-9F6C-4B91-8DEA-BB416800A9D7}" type="datetimeFigureOut">
              <a:rPr lang="en-IN" smtClean="0"/>
              <a:t>02-04-2026</a:t>
            </a:fld>
            <a:endParaRPr lang="en-IN"/>
          </a:p>
        </p:txBody>
      </p:sp>
      <p:sp>
        <p:nvSpPr>
          <p:cNvPr id="6" name="Footer Placeholder 5">
            <a:extLst>
              <a:ext uri="{FF2B5EF4-FFF2-40B4-BE49-F238E27FC236}">
                <a16:creationId xmlns:a16="http://schemas.microsoft.com/office/drawing/2014/main" id="{BE06DCD3-A26F-F4F1-F697-13CEFAC496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D27CED-EAB1-1765-C689-08F48CC387F2}"/>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3456483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06215-F963-FA4A-F512-5B13154A042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222DCE-AF5A-6778-DA1F-B69FFA77D4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C32913-058D-9E91-16A7-BDDB743C48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57F3E27-D644-7C9C-69C3-EBDF83B017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F488FC5-946A-7E83-4246-42DE4BF1C7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CAA83BB-F74B-AAA9-2E17-94A687FBD013}"/>
              </a:ext>
            </a:extLst>
          </p:cNvPr>
          <p:cNvSpPr>
            <a:spLocks noGrp="1"/>
          </p:cNvSpPr>
          <p:nvPr>
            <p:ph type="dt" sz="half" idx="10"/>
          </p:nvPr>
        </p:nvSpPr>
        <p:spPr/>
        <p:txBody>
          <a:bodyPr/>
          <a:lstStyle/>
          <a:p>
            <a:fld id="{76CF251D-9F6C-4B91-8DEA-BB416800A9D7}" type="datetimeFigureOut">
              <a:rPr lang="en-IN" smtClean="0"/>
              <a:t>02-04-2026</a:t>
            </a:fld>
            <a:endParaRPr lang="en-IN"/>
          </a:p>
        </p:txBody>
      </p:sp>
      <p:sp>
        <p:nvSpPr>
          <p:cNvPr id="8" name="Footer Placeholder 7">
            <a:extLst>
              <a:ext uri="{FF2B5EF4-FFF2-40B4-BE49-F238E27FC236}">
                <a16:creationId xmlns:a16="http://schemas.microsoft.com/office/drawing/2014/main" id="{55FB889B-BF36-7674-2EC2-06B7F85817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188B1AF-05B3-6EBC-3E1D-730E4CF76D90}"/>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1909490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1D212-2660-21D5-6487-9FBF6E5A78E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5F4EF80-042D-5EE0-5A54-A9F009192C01}"/>
              </a:ext>
            </a:extLst>
          </p:cNvPr>
          <p:cNvSpPr>
            <a:spLocks noGrp="1"/>
          </p:cNvSpPr>
          <p:nvPr>
            <p:ph type="dt" sz="half" idx="10"/>
          </p:nvPr>
        </p:nvSpPr>
        <p:spPr/>
        <p:txBody>
          <a:bodyPr/>
          <a:lstStyle/>
          <a:p>
            <a:fld id="{76CF251D-9F6C-4B91-8DEA-BB416800A9D7}" type="datetimeFigureOut">
              <a:rPr lang="en-IN" smtClean="0"/>
              <a:t>02-04-2026</a:t>
            </a:fld>
            <a:endParaRPr lang="en-IN"/>
          </a:p>
        </p:txBody>
      </p:sp>
      <p:sp>
        <p:nvSpPr>
          <p:cNvPr id="4" name="Footer Placeholder 3">
            <a:extLst>
              <a:ext uri="{FF2B5EF4-FFF2-40B4-BE49-F238E27FC236}">
                <a16:creationId xmlns:a16="http://schemas.microsoft.com/office/drawing/2014/main" id="{F5B16F2E-ACA2-E2AC-D54D-E8210D517AD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769A2B0-0E8B-D018-BA0D-9468C5BCA16F}"/>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4007932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C96C15-7F0B-D599-34A0-5670BFF5EE12}"/>
              </a:ext>
            </a:extLst>
          </p:cNvPr>
          <p:cNvSpPr>
            <a:spLocks noGrp="1"/>
          </p:cNvSpPr>
          <p:nvPr>
            <p:ph type="dt" sz="half" idx="10"/>
          </p:nvPr>
        </p:nvSpPr>
        <p:spPr/>
        <p:txBody>
          <a:bodyPr/>
          <a:lstStyle/>
          <a:p>
            <a:fld id="{76CF251D-9F6C-4B91-8DEA-BB416800A9D7}" type="datetimeFigureOut">
              <a:rPr lang="en-IN" smtClean="0"/>
              <a:t>02-04-2026</a:t>
            </a:fld>
            <a:endParaRPr lang="en-IN"/>
          </a:p>
        </p:txBody>
      </p:sp>
      <p:sp>
        <p:nvSpPr>
          <p:cNvPr id="3" name="Footer Placeholder 2">
            <a:extLst>
              <a:ext uri="{FF2B5EF4-FFF2-40B4-BE49-F238E27FC236}">
                <a16:creationId xmlns:a16="http://schemas.microsoft.com/office/drawing/2014/main" id="{353FDAB4-668C-4B94-7D3C-DD6A3C17B84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B8F3456-3056-0761-2A47-0E008E6D614A}"/>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1597350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D0C0-8715-9239-23BA-573F845DE6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B892EE2-DC00-C886-EF97-9B25F4A939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A99452F-08CB-E2ED-0C02-75DF435398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757943-B1E2-FA8C-2CC7-91ED5CA7B7C8}"/>
              </a:ext>
            </a:extLst>
          </p:cNvPr>
          <p:cNvSpPr>
            <a:spLocks noGrp="1"/>
          </p:cNvSpPr>
          <p:nvPr>
            <p:ph type="dt" sz="half" idx="10"/>
          </p:nvPr>
        </p:nvSpPr>
        <p:spPr/>
        <p:txBody>
          <a:bodyPr/>
          <a:lstStyle/>
          <a:p>
            <a:fld id="{76CF251D-9F6C-4B91-8DEA-BB416800A9D7}" type="datetimeFigureOut">
              <a:rPr lang="en-IN" smtClean="0"/>
              <a:t>02-04-2026</a:t>
            </a:fld>
            <a:endParaRPr lang="en-IN"/>
          </a:p>
        </p:txBody>
      </p:sp>
      <p:sp>
        <p:nvSpPr>
          <p:cNvPr id="6" name="Footer Placeholder 5">
            <a:extLst>
              <a:ext uri="{FF2B5EF4-FFF2-40B4-BE49-F238E27FC236}">
                <a16:creationId xmlns:a16="http://schemas.microsoft.com/office/drawing/2014/main" id="{FC06EC16-947D-C102-9BFB-AC88CD5AF7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A8B935-A976-610E-EE65-719E8BAD9515}"/>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2303234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9D5CD-52FF-723A-37C3-3590ED6C3E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56E2281-3F93-EE76-E01A-36903964E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B77D59E-66DD-1F1B-E050-AE3ABD40E1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44A8B1-22BF-E45F-BBA6-C68785632CEC}"/>
              </a:ext>
            </a:extLst>
          </p:cNvPr>
          <p:cNvSpPr>
            <a:spLocks noGrp="1"/>
          </p:cNvSpPr>
          <p:nvPr>
            <p:ph type="dt" sz="half" idx="10"/>
          </p:nvPr>
        </p:nvSpPr>
        <p:spPr/>
        <p:txBody>
          <a:bodyPr/>
          <a:lstStyle/>
          <a:p>
            <a:fld id="{76CF251D-9F6C-4B91-8DEA-BB416800A9D7}" type="datetimeFigureOut">
              <a:rPr lang="en-IN" smtClean="0"/>
              <a:t>02-04-2026</a:t>
            </a:fld>
            <a:endParaRPr lang="en-IN"/>
          </a:p>
        </p:txBody>
      </p:sp>
      <p:sp>
        <p:nvSpPr>
          <p:cNvPr id="6" name="Footer Placeholder 5">
            <a:extLst>
              <a:ext uri="{FF2B5EF4-FFF2-40B4-BE49-F238E27FC236}">
                <a16:creationId xmlns:a16="http://schemas.microsoft.com/office/drawing/2014/main" id="{F10D8584-B480-CB32-67D4-47B9D03D5A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7FA861-FC17-D919-7B6A-1EA5A2F64916}"/>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40942873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64124-7235-C18E-BE1B-538C4B68665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086F694-DB5A-A50F-88B3-5F130E1CF1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DBC97E-F7BE-281B-71D6-DC2F4BB141C7}"/>
              </a:ext>
            </a:extLst>
          </p:cNvPr>
          <p:cNvSpPr>
            <a:spLocks noGrp="1"/>
          </p:cNvSpPr>
          <p:nvPr>
            <p:ph type="dt" sz="half" idx="10"/>
          </p:nvPr>
        </p:nvSpPr>
        <p:spPr/>
        <p:txBody>
          <a:bodyPr/>
          <a:lstStyle/>
          <a:p>
            <a:fld id="{76CF251D-9F6C-4B91-8DEA-BB416800A9D7}" type="datetimeFigureOut">
              <a:rPr lang="en-IN" smtClean="0"/>
              <a:t>02-04-2026</a:t>
            </a:fld>
            <a:endParaRPr lang="en-IN"/>
          </a:p>
        </p:txBody>
      </p:sp>
      <p:sp>
        <p:nvSpPr>
          <p:cNvPr id="5" name="Footer Placeholder 4">
            <a:extLst>
              <a:ext uri="{FF2B5EF4-FFF2-40B4-BE49-F238E27FC236}">
                <a16:creationId xmlns:a16="http://schemas.microsoft.com/office/drawing/2014/main" id="{F686A25E-EA08-1260-06CB-BB68920C54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FE0C1C-C1CA-72C2-0564-CA425422A70B}"/>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27807479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BAD651-82BC-511D-B15D-EA67F547750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CBCCAB5-30B1-B03D-5F1E-0F420B8F3D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22C266-62F2-A6D3-0678-B23CB4AEEC4E}"/>
              </a:ext>
            </a:extLst>
          </p:cNvPr>
          <p:cNvSpPr>
            <a:spLocks noGrp="1"/>
          </p:cNvSpPr>
          <p:nvPr>
            <p:ph type="dt" sz="half" idx="10"/>
          </p:nvPr>
        </p:nvSpPr>
        <p:spPr/>
        <p:txBody>
          <a:bodyPr/>
          <a:lstStyle/>
          <a:p>
            <a:fld id="{76CF251D-9F6C-4B91-8DEA-BB416800A9D7}" type="datetimeFigureOut">
              <a:rPr lang="en-IN" smtClean="0"/>
              <a:t>02-04-2026</a:t>
            </a:fld>
            <a:endParaRPr lang="en-IN"/>
          </a:p>
        </p:txBody>
      </p:sp>
      <p:sp>
        <p:nvSpPr>
          <p:cNvPr id="5" name="Footer Placeholder 4">
            <a:extLst>
              <a:ext uri="{FF2B5EF4-FFF2-40B4-BE49-F238E27FC236}">
                <a16:creationId xmlns:a16="http://schemas.microsoft.com/office/drawing/2014/main" id="{523E3862-6E9C-A1D1-B01E-A82537F62D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A9BAA1-0480-5AAC-F840-C741A468CD2D}"/>
              </a:ext>
            </a:extLst>
          </p:cNvPr>
          <p:cNvSpPr>
            <a:spLocks noGrp="1"/>
          </p:cNvSpPr>
          <p:nvPr>
            <p:ph type="sldNum" sz="quarter" idx="12"/>
          </p:nvPr>
        </p:nvSpPr>
        <p:spPr/>
        <p:txBody>
          <a:bodyPr/>
          <a:lstStyle/>
          <a:p>
            <a:fld id="{AF5E9633-BCA5-4E17-935B-18F56ACA705B}" type="slidenum">
              <a:rPr lang="en-IN" smtClean="0"/>
              <a:t>‹#›</a:t>
            </a:fld>
            <a:endParaRPr lang="en-IN"/>
          </a:p>
        </p:txBody>
      </p:sp>
    </p:spTree>
    <p:extLst>
      <p:ext uri="{BB962C8B-B14F-4D97-AF65-F5344CB8AC3E}">
        <p14:creationId xmlns:p14="http://schemas.microsoft.com/office/powerpoint/2010/main" val="2258070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A981AF-CE54-7DAE-D641-07146D99B5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0053526-189D-E2AD-059B-C6214EC10D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BEA0B7-CFD1-BAE1-C3BB-ED58C05468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CF251D-9F6C-4B91-8DEA-BB416800A9D7}" type="datetimeFigureOut">
              <a:rPr lang="en-IN" smtClean="0"/>
              <a:t>02-04-2026</a:t>
            </a:fld>
            <a:endParaRPr lang="en-IN"/>
          </a:p>
        </p:txBody>
      </p:sp>
      <p:sp>
        <p:nvSpPr>
          <p:cNvPr id="5" name="Footer Placeholder 4">
            <a:extLst>
              <a:ext uri="{FF2B5EF4-FFF2-40B4-BE49-F238E27FC236}">
                <a16:creationId xmlns:a16="http://schemas.microsoft.com/office/drawing/2014/main" id="{5627A468-3F91-EFC7-DF2F-6815D34E52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A784BD5-9079-6107-D9ED-CDF1746189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5E9633-BCA5-4E17-935B-18F56ACA705B}" type="slidenum">
              <a:rPr lang="en-IN" smtClean="0"/>
              <a:t>‹#›</a:t>
            </a:fld>
            <a:endParaRPr lang="en-IN"/>
          </a:p>
        </p:txBody>
      </p:sp>
    </p:spTree>
    <p:extLst>
      <p:ext uri="{BB962C8B-B14F-4D97-AF65-F5344CB8AC3E}">
        <p14:creationId xmlns:p14="http://schemas.microsoft.com/office/powerpoint/2010/main" val="3342135253"/>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8ECBBB7-C6CC-4166-635A-E1FE879DA6DB}"/>
              </a:ext>
            </a:extLst>
          </p:cNvPr>
          <p:cNvSpPr txBox="1"/>
          <p:nvPr/>
        </p:nvSpPr>
        <p:spPr>
          <a:xfrm>
            <a:off x="5307724" y="2382559"/>
            <a:ext cx="6243145" cy="1846659"/>
          </a:xfrm>
          <a:prstGeom prst="rect">
            <a:avLst/>
          </a:prstGeom>
          <a:noFill/>
        </p:spPr>
        <p:txBody>
          <a:bodyPr wrap="square" rtlCol="0">
            <a:spAutoFit/>
          </a:bodyPr>
          <a:lstStyle/>
          <a:p>
            <a:pPr algn="ctr"/>
            <a:r>
              <a:rPr lang="en-IN" sz="3200" dirty="0">
                <a:latin typeface="Helvetica" pitchFamily="2" charset="0"/>
                <a:ea typeface="Verdana" panose="020B0604030504040204" pitchFamily="34" charset="0"/>
              </a:rPr>
              <a:t>BANK CRM ANALYSIS</a:t>
            </a:r>
          </a:p>
          <a:p>
            <a:pPr algn="ctr"/>
            <a:endParaRPr lang="en-IN" sz="3200" dirty="0">
              <a:latin typeface="Helvetica" pitchFamily="2" charset="0"/>
              <a:ea typeface="Verdana" panose="020B0604030504040204" pitchFamily="34" charset="0"/>
            </a:endParaRPr>
          </a:p>
          <a:p>
            <a:pPr algn="ctr"/>
            <a:endParaRPr lang="en-IN" sz="3200" dirty="0">
              <a:latin typeface="Helvetica" pitchFamily="2" charset="0"/>
              <a:ea typeface="Verdana" panose="020B0604030504040204" pitchFamily="34" charset="0"/>
            </a:endParaRPr>
          </a:p>
          <a:p>
            <a:pPr algn="ctr"/>
            <a:r>
              <a:rPr lang="en-IN" dirty="0" smtClean="0">
                <a:latin typeface="Helvetica" pitchFamily="2" charset="0"/>
                <a:ea typeface="Verdana" panose="020B0604030504040204" pitchFamily="34" charset="0"/>
              </a:rPr>
              <a:t>By Lipan </a:t>
            </a:r>
            <a:r>
              <a:rPr lang="en-IN" smtClean="0">
                <a:latin typeface="Helvetica" pitchFamily="2" charset="0"/>
                <a:ea typeface="Verdana" panose="020B0604030504040204" pitchFamily="34" charset="0"/>
              </a:rPr>
              <a:t>patra</a:t>
            </a:r>
            <a:endParaRPr lang="en-IN" dirty="0">
              <a:latin typeface="Helvetica" pitchFamily="2" charset="0"/>
              <a:ea typeface="Verdana" panose="020B0604030504040204" pitchFamily="34" charset="0"/>
            </a:endParaRPr>
          </a:p>
        </p:txBody>
      </p:sp>
      <p:sp>
        <p:nvSpPr>
          <p:cNvPr id="2" name="Rectangle 1">
            <a:extLst>
              <a:ext uri="{FF2B5EF4-FFF2-40B4-BE49-F238E27FC236}">
                <a16:creationId xmlns:a16="http://schemas.microsoft.com/office/drawing/2014/main" id="{D3D10404-D0E2-A547-B5D3-B79A6A60B898}"/>
              </a:ext>
            </a:extLst>
          </p:cNvPr>
          <p:cNvSpPr/>
          <p:nvPr/>
        </p:nvSpPr>
        <p:spPr>
          <a:xfrm>
            <a:off x="0" y="0"/>
            <a:ext cx="4572000" cy="6858000"/>
          </a:xfrm>
          <a:prstGeom prst="rect">
            <a:avLst/>
          </a:prstGeom>
          <a:solidFill>
            <a:schemeClr val="accent3">
              <a:lumMod val="75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3"/>
              </a:solidFill>
            </a:endParaRPr>
          </a:p>
        </p:txBody>
      </p:sp>
    </p:spTree>
    <p:extLst>
      <p:ext uri="{BB962C8B-B14F-4D97-AF65-F5344CB8AC3E}">
        <p14:creationId xmlns:p14="http://schemas.microsoft.com/office/powerpoint/2010/main" val="591182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D31812-9BF6-7FC8-A7DD-200AC574FB7D}"/>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PROBLEM STATEMENT</a:t>
            </a:r>
            <a:endParaRPr lang="en-IN" sz="3200" b="1" dirty="0">
              <a:solidFill>
                <a:schemeClr val="bg1"/>
              </a:solidFill>
            </a:endParaRPr>
          </a:p>
        </p:txBody>
      </p:sp>
      <p:sp>
        <p:nvSpPr>
          <p:cNvPr id="4" name="TextBox 3">
            <a:extLst>
              <a:ext uri="{FF2B5EF4-FFF2-40B4-BE49-F238E27FC236}">
                <a16:creationId xmlns:a16="http://schemas.microsoft.com/office/drawing/2014/main" id="{1AF7C0AB-0B6C-B960-8F74-ACA725FDD8F1}"/>
              </a:ext>
            </a:extLst>
          </p:cNvPr>
          <p:cNvSpPr txBox="1"/>
          <p:nvPr/>
        </p:nvSpPr>
        <p:spPr>
          <a:xfrm>
            <a:off x="1053662" y="2951946"/>
            <a:ext cx="10084676" cy="954107"/>
          </a:xfrm>
          <a:prstGeom prst="rect">
            <a:avLst/>
          </a:prstGeom>
          <a:noFill/>
        </p:spPr>
        <p:txBody>
          <a:bodyPr wrap="square" anchor="ctr">
            <a:spAutoFit/>
          </a:bodyPr>
          <a:lstStyle/>
          <a:p>
            <a:pPr algn="ctr"/>
            <a:r>
              <a:rPr lang="en-US" sz="2800" dirty="0">
                <a:solidFill>
                  <a:schemeClr val="accent1">
                    <a:lumMod val="75000"/>
                  </a:schemeClr>
                </a:solidFill>
                <a:latin typeface="Helvetica" pitchFamily="2" charset="0"/>
                <a:ea typeface="Verdana" panose="020B0604030504040204" pitchFamily="34" charset="0"/>
              </a:rPr>
              <a:t>The bank aims to reduce customer churn, improve service delivery, and enhance customer satisfaction. </a:t>
            </a:r>
            <a:endParaRPr lang="en-IN" sz="2800" dirty="0">
              <a:solidFill>
                <a:schemeClr val="accent1">
                  <a:lumMod val="75000"/>
                </a:schemeClr>
              </a:solidFill>
              <a:latin typeface="Helvetica" pitchFamily="2" charset="0"/>
              <a:ea typeface="Verdana" panose="020B0604030504040204" pitchFamily="34" charset="0"/>
            </a:endParaRPr>
          </a:p>
        </p:txBody>
      </p:sp>
    </p:spTree>
    <p:extLst>
      <p:ext uri="{BB962C8B-B14F-4D97-AF65-F5344CB8AC3E}">
        <p14:creationId xmlns:p14="http://schemas.microsoft.com/office/powerpoint/2010/main" val="2166509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464B0-0FD3-C6AE-50E1-40393BC81CD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AAE20CF-581D-02DC-9A60-96B1B49A1CF6}"/>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DATA OVERVIEW</a:t>
            </a:r>
            <a:endParaRPr lang="en-IN" sz="3200" b="1" dirty="0">
              <a:solidFill>
                <a:schemeClr val="bg1"/>
              </a:solidFill>
            </a:endParaRPr>
          </a:p>
        </p:txBody>
      </p:sp>
      <p:cxnSp>
        <p:nvCxnSpPr>
          <p:cNvPr id="7" name="Straight Connector 6">
            <a:extLst>
              <a:ext uri="{FF2B5EF4-FFF2-40B4-BE49-F238E27FC236}">
                <a16:creationId xmlns:a16="http://schemas.microsoft.com/office/drawing/2014/main" id="{CD1A81F6-08FB-11E7-32B9-7684089C794C}"/>
              </a:ext>
            </a:extLst>
          </p:cNvPr>
          <p:cNvCxnSpPr>
            <a:cxnSpLocks/>
          </p:cNvCxnSpPr>
          <p:nvPr/>
        </p:nvCxnSpPr>
        <p:spPr>
          <a:xfrm>
            <a:off x="6864880" y="1851309"/>
            <a:ext cx="0" cy="3804744"/>
          </a:xfrm>
          <a:prstGeom prst="line">
            <a:avLst/>
          </a:prstGeom>
          <a:ln w="28575">
            <a:solidFill>
              <a:schemeClr val="accent2">
                <a:lumMod val="20000"/>
                <a:lumOff val="80000"/>
              </a:schemeClr>
            </a:solidFill>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DF614500-4533-25E3-F85D-6BC37B5080CB}"/>
              </a:ext>
            </a:extLst>
          </p:cNvPr>
          <p:cNvSpPr txBox="1"/>
          <p:nvPr/>
        </p:nvSpPr>
        <p:spPr>
          <a:xfrm>
            <a:off x="7315200" y="2068123"/>
            <a:ext cx="4690861" cy="3371116"/>
          </a:xfrm>
          <a:prstGeom prst="rect">
            <a:avLst/>
          </a:prstGeom>
          <a:noFill/>
        </p:spPr>
        <p:txBody>
          <a:bodyPr wrap="square">
            <a:spAutoFit/>
          </a:bodyPr>
          <a:lstStyle/>
          <a:p>
            <a:pPr marL="0" rtl="0" eaLnBrk="1" latinLnBrk="0" hangingPunct="1">
              <a:buNone/>
            </a:pPr>
            <a:r>
              <a:rPr lang="en-IN" sz="1600" kern="1200" dirty="0">
                <a:solidFill>
                  <a:srgbClr val="000000"/>
                </a:solidFill>
                <a:effectLst/>
                <a:latin typeface="Helvetica" pitchFamily="2" charset="0"/>
                <a:ea typeface="Verdana" panose="020B0604030504040204" pitchFamily="34" charset="0"/>
              </a:rPr>
              <a:t>There are a total of </a:t>
            </a:r>
            <a:r>
              <a:rPr lang="en-IN" sz="1600" dirty="0">
                <a:solidFill>
                  <a:srgbClr val="000000"/>
                </a:solidFill>
                <a:latin typeface="Helvetica" pitchFamily="2" charset="0"/>
                <a:ea typeface="Verdana" panose="020B0604030504040204" pitchFamily="34" charset="0"/>
              </a:rPr>
              <a:t>7</a:t>
            </a:r>
            <a:r>
              <a:rPr lang="en-IN" sz="1600" kern="1200" dirty="0">
                <a:solidFill>
                  <a:srgbClr val="000000"/>
                </a:solidFill>
                <a:effectLst/>
                <a:latin typeface="Helvetica" pitchFamily="2" charset="0"/>
                <a:ea typeface="Verdana" panose="020B0604030504040204" pitchFamily="34" charset="0"/>
              </a:rPr>
              <a:t> tables in the dataset, wh</a:t>
            </a:r>
            <a:r>
              <a:rPr lang="en-IN" sz="1600" dirty="0">
                <a:solidFill>
                  <a:srgbClr val="000000"/>
                </a:solidFill>
                <a:latin typeface="Helvetica" pitchFamily="2" charset="0"/>
                <a:ea typeface="Verdana" panose="020B0604030504040204" pitchFamily="34" charset="0"/>
              </a:rPr>
              <a:t>ich are renamed to make executions better</a:t>
            </a:r>
            <a:r>
              <a:rPr lang="en-IN" sz="1600" kern="1200" dirty="0">
                <a:solidFill>
                  <a:srgbClr val="000000"/>
                </a:solidFill>
                <a:effectLst/>
                <a:latin typeface="Helvetica" pitchFamily="2" charset="0"/>
                <a:ea typeface="Verdana" panose="020B0604030504040204" pitchFamily="34" charset="0"/>
              </a:rPr>
              <a:t>:</a:t>
            </a:r>
          </a:p>
          <a:p>
            <a:pPr marL="0" rtl="0" eaLnBrk="1" latinLnBrk="0" hangingPunct="1">
              <a:buNone/>
            </a:pPr>
            <a:endParaRPr lang="en-IN" sz="1600" dirty="0">
              <a:effectLst/>
              <a:latin typeface="Helvetica" pitchFamily="2" charset="0"/>
            </a:endParaRPr>
          </a:p>
          <a:p>
            <a:pPr marL="285750" indent="-285750">
              <a:lnSpc>
                <a:spcPct val="150000"/>
              </a:lnSpc>
              <a:buFont typeface="Arial" panose="020B0604020202020204" pitchFamily="34" charset="0"/>
              <a:buChar char="•"/>
            </a:pPr>
            <a:r>
              <a:rPr lang="en-IN" sz="1600" dirty="0" err="1">
                <a:effectLst/>
                <a:latin typeface="Helvetica" pitchFamily="2" charset="0"/>
              </a:rPr>
              <a:t>Active</a:t>
            </a:r>
            <a:r>
              <a:rPr lang="en-IN" sz="1600" dirty="0" err="1">
                <a:latin typeface="Helvetica" pitchFamily="2" charset="0"/>
              </a:rPr>
              <a:t>Customer</a:t>
            </a:r>
            <a:r>
              <a:rPr lang="en-IN" sz="1600" dirty="0">
                <a:latin typeface="Helvetica" pitchFamily="2" charset="0"/>
              </a:rPr>
              <a:t> ⇒ </a:t>
            </a:r>
            <a:r>
              <a:rPr lang="en-IN" sz="1600" dirty="0" err="1">
                <a:latin typeface="Helvetica" pitchFamily="2" charset="0"/>
              </a:rPr>
              <a:t>customer_category</a:t>
            </a:r>
            <a:endParaRPr lang="en-IN" sz="1600" dirty="0">
              <a:latin typeface="Helvetica" pitchFamily="2" charset="0"/>
            </a:endParaRPr>
          </a:p>
          <a:p>
            <a:pPr marL="285750" indent="-285750">
              <a:lnSpc>
                <a:spcPct val="150000"/>
              </a:lnSpc>
              <a:buFont typeface="Arial" panose="020B0604020202020204" pitchFamily="34" charset="0"/>
              <a:buChar char="•"/>
            </a:pPr>
            <a:r>
              <a:rPr lang="en-IN" sz="1600" dirty="0" err="1">
                <a:effectLst/>
                <a:latin typeface="Helvetica" pitchFamily="2" charset="0"/>
              </a:rPr>
              <a:t>Bank</a:t>
            </a:r>
            <a:r>
              <a:rPr lang="en-IN" sz="1600" dirty="0" err="1">
                <a:latin typeface="Helvetica" pitchFamily="2" charset="0"/>
              </a:rPr>
              <a:t>_Churn</a:t>
            </a:r>
            <a:r>
              <a:rPr lang="en-IN" sz="1600" dirty="0">
                <a:latin typeface="Helvetica" pitchFamily="2" charset="0"/>
              </a:rPr>
              <a:t> ⇒ </a:t>
            </a:r>
            <a:r>
              <a:rPr lang="en-IN" sz="1600" dirty="0" err="1">
                <a:latin typeface="Helvetica" pitchFamily="2" charset="0"/>
              </a:rPr>
              <a:t>bank_churn</a:t>
            </a:r>
            <a:endParaRPr lang="en-IN" sz="1600" dirty="0">
              <a:latin typeface="Helvetica" pitchFamily="2" charset="0"/>
            </a:endParaRPr>
          </a:p>
          <a:p>
            <a:pPr marL="285750" indent="-285750">
              <a:lnSpc>
                <a:spcPct val="150000"/>
              </a:lnSpc>
              <a:buFont typeface="Arial" panose="020B0604020202020204" pitchFamily="34" charset="0"/>
              <a:buChar char="•"/>
            </a:pPr>
            <a:r>
              <a:rPr lang="en-IN" sz="1600" dirty="0" err="1">
                <a:effectLst/>
                <a:latin typeface="Helvetica" pitchFamily="2" charset="0"/>
              </a:rPr>
              <a:t>CreditCard</a:t>
            </a:r>
            <a:r>
              <a:rPr lang="en-IN" sz="1600" dirty="0">
                <a:effectLst/>
                <a:latin typeface="Helvetica" pitchFamily="2" charset="0"/>
              </a:rPr>
              <a:t> </a:t>
            </a:r>
            <a:r>
              <a:rPr lang="en-IN" sz="1600" dirty="0">
                <a:latin typeface="Helvetica" pitchFamily="2" charset="0"/>
              </a:rPr>
              <a:t>⇒ </a:t>
            </a:r>
            <a:r>
              <a:rPr lang="en-IN" sz="1600" dirty="0" err="1">
                <a:latin typeface="Helvetica" pitchFamily="2" charset="0"/>
              </a:rPr>
              <a:t>credit_category</a:t>
            </a:r>
            <a:endParaRPr lang="en-IN" sz="1600" dirty="0">
              <a:latin typeface="Helvetica" pitchFamily="2" charset="0"/>
            </a:endParaRPr>
          </a:p>
          <a:p>
            <a:pPr marL="285750" indent="-285750">
              <a:lnSpc>
                <a:spcPct val="150000"/>
              </a:lnSpc>
              <a:buFont typeface="Arial" panose="020B0604020202020204" pitchFamily="34" charset="0"/>
              <a:buChar char="•"/>
            </a:pPr>
            <a:r>
              <a:rPr lang="en-IN" sz="1600" dirty="0" err="1">
                <a:effectLst/>
                <a:latin typeface="Helvetica" pitchFamily="2" charset="0"/>
              </a:rPr>
              <a:t>CustomerInfo</a:t>
            </a:r>
            <a:r>
              <a:rPr lang="en-IN" sz="1600" dirty="0">
                <a:latin typeface="Helvetica" pitchFamily="2" charset="0"/>
              </a:rPr>
              <a:t> ⇒ </a:t>
            </a:r>
            <a:r>
              <a:rPr lang="en-IN" sz="1600" dirty="0" err="1">
                <a:latin typeface="Helvetica" pitchFamily="2" charset="0"/>
              </a:rPr>
              <a:t>customer_detail</a:t>
            </a:r>
            <a:endParaRPr lang="en-IN" sz="1600" dirty="0">
              <a:latin typeface="Helvetica" pitchFamily="2" charset="0"/>
            </a:endParaRPr>
          </a:p>
          <a:p>
            <a:pPr marL="285750" indent="-285750">
              <a:lnSpc>
                <a:spcPct val="150000"/>
              </a:lnSpc>
              <a:buFont typeface="Arial" panose="020B0604020202020204" pitchFamily="34" charset="0"/>
              <a:buChar char="•"/>
            </a:pPr>
            <a:r>
              <a:rPr lang="en-IN" sz="1600" dirty="0" err="1">
                <a:effectLst/>
                <a:latin typeface="Helvetica" pitchFamily="2" charset="0"/>
              </a:rPr>
              <a:t>ExitCustomer</a:t>
            </a:r>
            <a:r>
              <a:rPr lang="en-IN" sz="1600" dirty="0">
                <a:effectLst/>
                <a:latin typeface="Helvetica" pitchFamily="2" charset="0"/>
              </a:rPr>
              <a:t> </a:t>
            </a:r>
            <a:r>
              <a:rPr lang="en-IN" sz="1600" dirty="0">
                <a:latin typeface="Helvetica" pitchFamily="2" charset="0"/>
              </a:rPr>
              <a:t>⇒ </a:t>
            </a:r>
            <a:r>
              <a:rPr lang="en-IN" sz="1600" dirty="0" err="1">
                <a:latin typeface="Helvetica" pitchFamily="2" charset="0"/>
              </a:rPr>
              <a:t>churn_detail</a:t>
            </a:r>
            <a:endParaRPr lang="en-IN" sz="1600" dirty="0">
              <a:latin typeface="Helvetica" pitchFamily="2" charset="0"/>
            </a:endParaRPr>
          </a:p>
          <a:p>
            <a:pPr marL="285750" indent="-285750">
              <a:lnSpc>
                <a:spcPct val="150000"/>
              </a:lnSpc>
              <a:buFont typeface="Arial" panose="020B0604020202020204" pitchFamily="34" charset="0"/>
              <a:buChar char="•"/>
            </a:pPr>
            <a:r>
              <a:rPr lang="en-IN" sz="1600" dirty="0">
                <a:effectLst/>
                <a:latin typeface="Helvetica" pitchFamily="2" charset="0"/>
              </a:rPr>
              <a:t>Gender </a:t>
            </a:r>
            <a:r>
              <a:rPr lang="en-IN" sz="1600" dirty="0">
                <a:latin typeface="Helvetica" pitchFamily="2" charset="0"/>
              </a:rPr>
              <a:t>⇒ gender</a:t>
            </a:r>
          </a:p>
          <a:p>
            <a:pPr marL="285750" indent="-285750">
              <a:lnSpc>
                <a:spcPct val="150000"/>
              </a:lnSpc>
              <a:buFont typeface="Arial" panose="020B0604020202020204" pitchFamily="34" charset="0"/>
              <a:buChar char="•"/>
            </a:pPr>
            <a:r>
              <a:rPr lang="en-IN" sz="1600" dirty="0">
                <a:effectLst/>
                <a:latin typeface="Helvetica" pitchFamily="2" charset="0"/>
              </a:rPr>
              <a:t>Geography </a:t>
            </a:r>
            <a:r>
              <a:rPr lang="en-IN" sz="1600" dirty="0">
                <a:latin typeface="Helvetica" pitchFamily="2" charset="0"/>
              </a:rPr>
              <a:t>⇒ geography</a:t>
            </a:r>
            <a:endParaRPr lang="en-IN" sz="1600" dirty="0">
              <a:effectLst/>
              <a:latin typeface="Helvetica" pitchFamily="2" charset="0"/>
            </a:endParaRPr>
          </a:p>
        </p:txBody>
      </p:sp>
      <p:pic>
        <p:nvPicPr>
          <p:cNvPr id="4" name="Picture 3">
            <a:extLst>
              <a:ext uri="{FF2B5EF4-FFF2-40B4-BE49-F238E27FC236}">
                <a16:creationId xmlns:a16="http://schemas.microsoft.com/office/drawing/2014/main" id="{517143FC-241C-E4D1-663D-73DCE690F5D0}"/>
              </a:ext>
            </a:extLst>
          </p:cNvPr>
          <p:cNvPicPr>
            <a:picLocks noChangeAspect="1"/>
          </p:cNvPicPr>
          <p:nvPr/>
        </p:nvPicPr>
        <p:blipFill>
          <a:blip r:embed="rId2"/>
          <a:stretch>
            <a:fillRect/>
          </a:stretch>
        </p:blipFill>
        <p:spPr>
          <a:xfrm>
            <a:off x="185939" y="1635103"/>
            <a:ext cx="6553682" cy="4237156"/>
          </a:xfrm>
          <a:prstGeom prst="rect">
            <a:avLst/>
          </a:prstGeom>
        </p:spPr>
      </p:pic>
    </p:spTree>
    <p:extLst>
      <p:ext uri="{BB962C8B-B14F-4D97-AF65-F5344CB8AC3E}">
        <p14:creationId xmlns:p14="http://schemas.microsoft.com/office/powerpoint/2010/main" val="2140116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586EE-C970-6E47-AC80-9B76A029420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4299AEE-2562-515C-03AD-6019CC92B3F2}"/>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DATA OVERVIEW</a:t>
            </a:r>
            <a:endParaRPr lang="en-IN" sz="3200" b="1" dirty="0">
              <a:solidFill>
                <a:schemeClr val="bg1"/>
              </a:solidFill>
            </a:endParaRPr>
          </a:p>
        </p:txBody>
      </p:sp>
      <p:graphicFrame>
        <p:nvGraphicFramePr>
          <p:cNvPr id="4" name="Table 3">
            <a:extLst>
              <a:ext uri="{FF2B5EF4-FFF2-40B4-BE49-F238E27FC236}">
                <a16:creationId xmlns:a16="http://schemas.microsoft.com/office/drawing/2014/main" id="{F837A051-786A-2732-68F0-2ABD1BBE549D}"/>
              </a:ext>
            </a:extLst>
          </p:cNvPr>
          <p:cNvGraphicFramePr>
            <a:graphicFrameLocks noGrp="1"/>
          </p:cNvGraphicFramePr>
          <p:nvPr>
            <p:extLst>
              <p:ext uri="{D42A27DB-BD31-4B8C-83A1-F6EECF244321}">
                <p14:modId xmlns:p14="http://schemas.microsoft.com/office/powerpoint/2010/main" val="3488557207"/>
              </p:ext>
            </p:extLst>
          </p:nvPr>
        </p:nvGraphicFramePr>
        <p:xfrm>
          <a:off x="1106215" y="1945640"/>
          <a:ext cx="9979570" cy="2966720"/>
        </p:xfrm>
        <a:graphic>
          <a:graphicData uri="http://schemas.openxmlformats.org/drawingml/2006/table">
            <a:tbl>
              <a:tblPr firstRow="1" bandRow="1">
                <a:tableStyleId>{8A107856-5554-42FB-B03E-39F5DBC370BA}</a:tableStyleId>
              </a:tblPr>
              <a:tblGrid>
                <a:gridCol w="625365">
                  <a:extLst>
                    <a:ext uri="{9D8B030D-6E8A-4147-A177-3AD203B41FA5}">
                      <a16:colId xmlns:a16="http://schemas.microsoft.com/office/drawing/2014/main" val="3875561550"/>
                    </a:ext>
                  </a:extLst>
                </a:gridCol>
                <a:gridCol w="1755227">
                  <a:extLst>
                    <a:ext uri="{9D8B030D-6E8A-4147-A177-3AD203B41FA5}">
                      <a16:colId xmlns:a16="http://schemas.microsoft.com/office/drawing/2014/main" val="1460808079"/>
                    </a:ext>
                  </a:extLst>
                </a:gridCol>
                <a:gridCol w="1786759">
                  <a:extLst>
                    <a:ext uri="{9D8B030D-6E8A-4147-A177-3AD203B41FA5}">
                      <a16:colId xmlns:a16="http://schemas.microsoft.com/office/drawing/2014/main" val="3391523469"/>
                    </a:ext>
                  </a:extLst>
                </a:gridCol>
                <a:gridCol w="5812219">
                  <a:extLst>
                    <a:ext uri="{9D8B030D-6E8A-4147-A177-3AD203B41FA5}">
                      <a16:colId xmlns:a16="http://schemas.microsoft.com/office/drawing/2014/main" val="2734158051"/>
                    </a:ext>
                  </a:extLst>
                </a:gridCol>
              </a:tblGrid>
              <a:tr h="370840">
                <a:tc>
                  <a:txBody>
                    <a:bodyPr/>
                    <a:lstStyle/>
                    <a:p>
                      <a:pPr algn="ctr">
                        <a:buNone/>
                      </a:pPr>
                      <a:r>
                        <a:rPr lang="en-IN" sz="1400" dirty="0" err="1">
                          <a:solidFill>
                            <a:schemeClr val="bg1"/>
                          </a:solidFill>
                          <a:latin typeface="Helvetica" pitchFamily="2" charset="0"/>
                        </a:rPr>
                        <a:t>S.No</a:t>
                      </a:r>
                      <a:endParaRPr lang="en-IN" sz="1400" dirty="0">
                        <a:solidFill>
                          <a:schemeClr val="bg1"/>
                        </a:solidFill>
                        <a:latin typeface="Helvetica" pitchFamily="2" charset="0"/>
                      </a:endParaRPr>
                    </a:p>
                  </a:txBody>
                  <a:tcPr anchor="ctr">
                    <a:solidFill>
                      <a:schemeClr val="accent2"/>
                    </a:solidFill>
                  </a:tcPr>
                </a:tc>
                <a:tc>
                  <a:txBody>
                    <a:bodyPr/>
                    <a:lstStyle/>
                    <a:p>
                      <a:pPr algn="ctr">
                        <a:buNone/>
                      </a:pPr>
                      <a:r>
                        <a:rPr lang="en-IN" sz="1400" dirty="0">
                          <a:solidFill>
                            <a:schemeClr val="bg1"/>
                          </a:solidFill>
                          <a:latin typeface="Helvetica" pitchFamily="2" charset="0"/>
                        </a:rPr>
                        <a:t>Table Name</a:t>
                      </a:r>
                    </a:p>
                  </a:txBody>
                  <a:tcPr anchor="ctr">
                    <a:solidFill>
                      <a:schemeClr val="accent2"/>
                    </a:solidFill>
                  </a:tcPr>
                </a:tc>
                <a:tc>
                  <a:txBody>
                    <a:bodyPr/>
                    <a:lstStyle/>
                    <a:p>
                      <a:pPr algn="ctr">
                        <a:buNone/>
                      </a:pPr>
                      <a:r>
                        <a:rPr lang="en-IN" sz="1400">
                          <a:solidFill>
                            <a:schemeClr val="bg1"/>
                          </a:solidFill>
                          <a:latin typeface="Helvetica" pitchFamily="2" charset="0"/>
                        </a:rPr>
                        <a:t>No. of Attributes</a:t>
                      </a:r>
                    </a:p>
                  </a:txBody>
                  <a:tcPr anchor="ctr">
                    <a:solidFill>
                      <a:schemeClr val="accent2"/>
                    </a:solidFill>
                  </a:tcPr>
                </a:tc>
                <a:tc>
                  <a:txBody>
                    <a:bodyPr/>
                    <a:lstStyle/>
                    <a:p>
                      <a:pPr algn="ctr">
                        <a:buNone/>
                      </a:pPr>
                      <a:r>
                        <a:rPr lang="en-IN" sz="1400" dirty="0">
                          <a:solidFill>
                            <a:schemeClr val="bg1"/>
                          </a:solidFill>
                          <a:latin typeface="Helvetica" pitchFamily="2" charset="0"/>
                        </a:rPr>
                        <a:t>Categorical / Continuous Count</a:t>
                      </a:r>
                    </a:p>
                  </a:txBody>
                  <a:tcPr anchor="ctr">
                    <a:solidFill>
                      <a:schemeClr val="accent2"/>
                    </a:solidFill>
                  </a:tcPr>
                </a:tc>
                <a:extLst>
                  <a:ext uri="{0D108BD9-81ED-4DB2-BD59-A6C34878D82A}">
                    <a16:rowId xmlns:a16="http://schemas.microsoft.com/office/drawing/2014/main" val="2227104170"/>
                  </a:ext>
                </a:extLst>
              </a:tr>
              <a:tr h="370840">
                <a:tc>
                  <a:txBody>
                    <a:bodyPr/>
                    <a:lstStyle/>
                    <a:p>
                      <a:pPr mar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1</a:t>
                      </a:r>
                    </a:p>
                  </a:txBody>
                  <a:tcPr marL="9525" marR="9525" marT="9525" marB="9525" anchor="ctr"/>
                </a:tc>
                <a:tc>
                  <a:txBody>
                    <a:bodyPr/>
                    <a:lstStyle/>
                    <a:p>
                      <a:pPr marL="0" lvl="0" algn="ctr" defTabSz="914400" rtl="0" eaLnBrk="1" latinLnBrk="0" hangingPunct="1">
                        <a:lnSpc>
                          <a:spcPct val="115000"/>
                        </a:lnSpc>
                        <a:spcAft>
                          <a:spcPts val="800"/>
                        </a:spcAft>
                        <a:buNone/>
                      </a:pPr>
                      <a:r>
                        <a:rPr lang="en-IN" sz="1400" kern="1200" dirty="0" err="1">
                          <a:solidFill>
                            <a:schemeClr val="dk1"/>
                          </a:solidFill>
                          <a:latin typeface="Helvetica" pitchFamily="2" charset="0"/>
                          <a:ea typeface="+mn-ea"/>
                          <a:cs typeface="+mn-cs"/>
                        </a:rPr>
                        <a:t>customer_detail</a:t>
                      </a:r>
                      <a:endParaRPr lang="en-IN" sz="1400" kern="1200" dirty="0">
                        <a:solidFill>
                          <a:schemeClr val="dk1"/>
                        </a:solidFill>
                        <a:latin typeface="Helvetica" pitchFamily="2" charset="0"/>
                        <a:ea typeface="+mn-ea"/>
                        <a:cs typeface="+mn-cs"/>
                      </a:endParaRP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6</a:t>
                      </a: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3 Categorical, 2 Continuous, 1 Date</a:t>
                      </a:r>
                    </a:p>
                  </a:txBody>
                  <a:tcPr marL="9525" marR="9525" marT="9525" marB="9525" anchor="ctr"/>
                </a:tc>
                <a:extLst>
                  <a:ext uri="{0D108BD9-81ED-4DB2-BD59-A6C34878D82A}">
                    <a16:rowId xmlns:a16="http://schemas.microsoft.com/office/drawing/2014/main" val="187289419"/>
                  </a:ext>
                </a:extLst>
              </a:tr>
              <a:tr h="370840">
                <a:tc>
                  <a:txBody>
                    <a:bodyPr/>
                    <a:lstStyle/>
                    <a:p>
                      <a:pPr mar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2</a:t>
                      </a:r>
                    </a:p>
                  </a:txBody>
                  <a:tcPr marL="9525" marR="9525" marT="9525" marB="9525" anchor="ctr"/>
                </a:tc>
                <a:tc>
                  <a:txBody>
                    <a:bodyPr/>
                    <a:lstStyle/>
                    <a:p>
                      <a:pPr marL="0" lv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geography</a:t>
                      </a: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2</a:t>
                      </a: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2 Categorical</a:t>
                      </a:r>
                    </a:p>
                  </a:txBody>
                  <a:tcPr marL="9525" marR="9525" marT="9525" marB="9525" anchor="ctr"/>
                </a:tc>
                <a:extLst>
                  <a:ext uri="{0D108BD9-81ED-4DB2-BD59-A6C34878D82A}">
                    <a16:rowId xmlns:a16="http://schemas.microsoft.com/office/drawing/2014/main" val="3738242983"/>
                  </a:ext>
                </a:extLst>
              </a:tr>
              <a:tr h="370840">
                <a:tc>
                  <a:txBody>
                    <a:bodyPr/>
                    <a:lstStyle/>
                    <a:p>
                      <a:pPr mar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3</a:t>
                      </a:r>
                    </a:p>
                  </a:txBody>
                  <a:tcPr marL="9525" marR="9525" marT="9525" marB="9525" anchor="ctr"/>
                </a:tc>
                <a:tc>
                  <a:txBody>
                    <a:bodyPr/>
                    <a:lstStyle/>
                    <a:p>
                      <a:pPr marL="0" lv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gender</a:t>
                      </a: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2</a:t>
                      </a: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2 Categorical</a:t>
                      </a:r>
                    </a:p>
                  </a:txBody>
                  <a:tcPr marL="9525" marR="9525" marT="9525" marB="9525" anchor="ctr"/>
                </a:tc>
                <a:extLst>
                  <a:ext uri="{0D108BD9-81ED-4DB2-BD59-A6C34878D82A}">
                    <a16:rowId xmlns:a16="http://schemas.microsoft.com/office/drawing/2014/main" val="3286186776"/>
                  </a:ext>
                </a:extLst>
              </a:tr>
              <a:tr h="370840">
                <a:tc>
                  <a:txBody>
                    <a:bodyPr/>
                    <a:lstStyle/>
                    <a:p>
                      <a:pPr mar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4</a:t>
                      </a:r>
                    </a:p>
                  </a:txBody>
                  <a:tcPr marL="9525" marR="9525" marT="9525" marB="9525" anchor="ctr"/>
                </a:tc>
                <a:tc>
                  <a:txBody>
                    <a:bodyPr/>
                    <a:lstStyle/>
                    <a:p>
                      <a:pPr marL="0" lv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credit_category</a:t>
                      </a: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2</a:t>
                      </a: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2 Categorical</a:t>
                      </a:r>
                    </a:p>
                  </a:txBody>
                  <a:tcPr marL="9525" marR="9525" marT="9525" marB="9525" anchor="ctr"/>
                </a:tc>
                <a:extLst>
                  <a:ext uri="{0D108BD9-81ED-4DB2-BD59-A6C34878D82A}">
                    <a16:rowId xmlns:a16="http://schemas.microsoft.com/office/drawing/2014/main" val="4087531757"/>
                  </a:ext>
                </a:extLst>
              </a:tr>
              <a:tr h="370840">
                <a:tc>
                  <a:txBody>
                    <a:bodyPr/>
                    <a:lstStyle/>
                    <a:p>
                      <a:pPr mar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5</a:t>
                      </a:r>
                    </a:p>
                  </a:txBody>
                  <a:tcPr marL="9525" marR="9525" marT="9525" marB="9525" anchor="ctr"/>
                </a:tc>
                <a:tc>
                  <a:txBody>
                    <a:bodyPr/>
                    <a:lstStyle/>
                    <a:p>
                      <a:pPr marL="0" lv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customer_category</a:t>
                      </a: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2</a:t>
                      </a: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2 Categorical</a:t>
                      </a:r>
                    </a:p>
                  </a:txBody>
                  <a:tcPr marL="9525" marR="9525" marT="9525" marB="9525" anchor="ctr"/>
                </a:tc>
                <a:extLst>
                  <a:ext uri="{0D108BD9-81ED-4DB2-BD59-A6C34878D82A}">
                    <a16:rowId xmlns:a16="http://schemas.microsoft.com/office/drawing/2014/main" val="1622285207"/>
                  </a:ext>
                </a:extLst>
              </a:tr>
              <a:tr h="370840">
                <a:tc>
                  <a:txBody>
                    <a:bodyPr/>
                    <a:lstStyle/>
                    <a:p>
                      <a:pPr mar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6</a:t>
                      </a:r>
                    </a:p>
                  </a:txBody>
                  <a:tcPr marL="9525" marR="9525" marT="9525" marB="9525" anchor="ctr"/>
                </a:tc>
                <a:tc>
                  <a:txBody>
                    <a:bodyPr/>
                    <a:lstStyle/>
                    <a:p>
                      <a:pPr marL="0" lv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churn_detail</a:t>
                      </a: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2</a:t>
                      </a: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2 Categorical</a:t>
                      </a:r>
                    </a:p>
                  </a:txBody>
                  <a:tcPr marL="9525" marR="9525" marT="9525" marB="9525" anchor="ctr"/>
                </a:tc>
                <a:extLst>
                  <a:ext uri="{0D108BD9-81ED-4DB2-BD59-A6C34878D82A}">
                    <a16:rowId xmlns:a16="http://schemas.microsoft.com/office/drawing/2014/main" val="1413254099"/>
                  </a:ext>
                </a:extLst>
              </a:tr>
              <a:tr h="370840">
                <a:tc>
                  <a:txBody>
                    <a:bodyPr/>
                    <a:lstStyle/>
                    <a:p>
                      <a:pPr mar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7</a:t>
                      </a:r>
                    </a:p>
                  </a:txBody>
                  <a:tcPr marL="9525" marR="9525" marT="9525" marB="9525" anchor="ctr"/>
                </a:tc>
                <a:tc>
                  <a:txBody>
                    <a:bodyPr/>
                    <a:lstStyle/>
                    <a:p>
                      <a:pPr marL="0" lvl="0" algn="ctr" defTabSz="914400" rtl="0" eaLnBrk="1" latinLnBrk="0" hangingPunct="1">
                        <a:lnSpc>
                          <a:spcPct val="115000"/>
                        </a:lnSpc>
                        <a:spcAft>
                          <a:spcPts val="800"/>
                        </a:spcAft>
                        <a:buNone/>
                      </a:pPr>
                      <a:r>
                        <a:rPr lang="en-IN" sz="1400" kern="1200" dirty="0" err="1">
                          <a:solidFill>
                            <a:schemeClr val="dk1"/>
                          </a:solidFill>
                          <a:latin typeface="Helvetica" pitchFamily="2" charset="0"/>
                          <a:ea typeface="+mn-ea"/>
                          <a:cs typeface="+mn-cs"/>
                        </a:rPr>
                        <a:t>bank_churn</a:t>
                      </a:r>
                      <a:endParaRPr lang="en-IN" sz="1400" kern="1200" dirty="0">
                        <a:solidFill>
                          <a:schemeClr val="dk1"/>
                        </a:solidFill>
                        <a:latin typeface="Helvetica" pitchFamily="2" charset="0"/>
                        <a:ea typeface="+mn-ea"/>
                        <a:cs typeface="+mn-cs"/>
                      </a:endParaRP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a:solidFill>
                            <a:schemeClr val="dk1"/>
                          </a:solidFill>
                          <a:latin typeface="Helvetica" pitchFamily="2" charset="0"/>
                          <a:ea typeface="+mn-ea"/>
                          <a:cs typeface="+mn-cs"/>
                        </a:rPr>
                        <a:t>8</a:t>
                      </a: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5 Categorical, 3 Continuous</a:t>
                      </a:r>
                    </a:p>
                  </a:txBody>
                  <a:tcPr marL="9525" marR="9525" marT="9525" marB="9525" anchor="ctr"/>
                </a:tc>
                <a:extLst>
                  <a:ext uri="{0D108BD9-81ED-4DB2-BD59-A6C34878D82A}">
                    <a16:rowId xmlns:a16="http://schemas.microsoft.com/office/drawing/2014/main" val="2454961114"/>
                  </a:ext>
                </a:extLst>
              </a:tr>
            </a:tbl>
          </a:graphicData>
        </a:graphic>
      </p:graphicFrame>
    </p:spTree>
    <p:extLst>
      <p:ext uri="{BB962C8B-B14F-4D97-AF65-F5344CB8AC3E}">
        <p14:creationId xmlns:p14="http://schemas.microsoft.com/office/powerpoint/2010/main" val="1997818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1E8A37-E308-2DA2-4996-A53D710D19D5}"/>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METHODOLOGY</a:t>
            </a:r>
            <a:endParaRPr lang="en-IN" sz="3200" b="1" dirty="0">
              <a:solidFill>
                <a:schemeClr val="bg1"/>
              </a:solidFill>
            </a:endParaRPr>
          </a:p>
        </p:txBody>
      </p:sp>
      <p:sp>
        <p:nvSpPr>
          <p:cNvPr id="4" name="TextBox 3">
            <a:extLst>
              <a:ext uri="{FF2B5EF4-FFF2-40B4-BE49-F238E27FC236}">
                <a16:creationId xmlns:a16="http://schemas.microsoft.com/office/drawing/2014/main" id="{40F6E337-8A44-0161-7C2B-94D9601B7DC3}"/>
              </a:ext>
            </a:extLst>
          </p:cNvPr>
          <p:cNvSpPr txBox="1"/>
          <p:nvPr/>
        </p:nvSpPr>
        <p:spPr>
          <a:xfrm>
            <a:off x="541282" y="1166842"/>
            <a:ext cx="11109435" cy="4524315"/>
          </a:xfrm>
          <a:prstGeom prst="rect">
            <a:avLst/>
          </a:prstGeom>
          <a:noFill/>
        </p:spPr>
        <p:txBody>
          <a:bodyPr wrap="square">
            <a:spAutoFit/>
          </a:bodyPr>
          <a:lstStyle/>
          <a:p>
            <a:pPr marL="342900" indent="-342900">
              <a:buFont typeface="+mj-lt"/>
              <a:buAutoNum type="alphaUcPeriod"/>
            </a:pPr>
            <a:r>
              <a:rPr lang="en-IN" sz="1600" b="1" dirty="0">
                <a:latin typeface="Helvetica" pitchFamily="2" charset="0"/>
              </a:rPr>
              <a:t>DATA CLEANING AND STRUCTURING</a:t>
            </a:r>
          </a:p>
          <a:p>
            <a:pPr marL="800100" lvl="1" indent="-342900">
              <a:buFont typeface="Arial" panose="020B0604020202020204" pitchFamily="34" charset="0"/>
              <a:buChar char="•"/>
            </a:pPr>
            <a:r>
              <a:rPr lang="en-IN" sz="1600" dirty="0">
                <a:latin typeface="Helvetica" pitchFamily="2" charset="0"/>
              </a:rPr>
              <a:t>Using Excel to remove duplicity or inconsistency within data and formatting all the columns into the right data format to make it seamless to import or connect with the Power BI Desktop</a:t>
            </a:r>
          </a:p>
          <a:p>
            <a:pPr marL="800100" lvl="1" indent="-342900">
              <a:buFont typeface="Arial" panose="020B0604020202020204" pitchFamily="34" charset="0"/>
              <a:buChar char="•"/>
            </a:pPr>
            <a:r>
              <a:rPr lang="en-IN" sz="1600" dirty="0">
                <a:latin typeface="Helvetica" pitchFamily="2" charset="0"/>
              </a:rPr>
              <a:t>Using SQL to build relationships, understand data, and derive some meaningful insights that will help in decision-making</a:t>
            </a:r>
          </a:p>
          <a:p>
            <a:pPr marL="800100" lvl="1" indent="-342900">
              <a:buFont typeface="Arial" panose="020B0604020202020204" pitchFamily="34" charset="0"/>
              <a:buChar char="•"/>
            </a:pPr>
            <a:r>
              <a:rPr lang="en-IN" sz="1600" dirty="0">
                <a:latin typeface="Helvetica" pitchFamily="2" charset="0"/>
              </a:rPr>
              <a:t>Using Power BI to generate reports and a KPIs dashboard through models, visualizations, measures, and slicers to assist strategy building for the bank </a:t>
            </a:r>
          </a:p>
          <a:p>
            <a:pPr marL="800100" lvl="1" indent="-342900">
              <a:buFont typeface="Arial" panose="020B0604020202020204" pitchFamily="34" charset="0"/>
              <a:buChar char="•"/>
            </a:pPr>
            <a:endParaRPr lang="en-IN" sz="1600" dirty="0">
              <a:latin typeface="Helvetica" pitchFamily="2" charset="0"/>
            </a:endParaRPr>
          </a:p>
          <a:p>
            <a:pPr marL="342900" indent="-342900">
              <a:buFont typeface="+mj-lt"/>
              <a:buAutoNum type="alphaUcPeriod"/>
            </a:pPr>
            <a:r>
              <a:rPr lang="en-IN" sz="1600" b="1" dirty="0">
                <a:latin typeface="Helvetica" pitchFamily="2" charset="0"/>
              </a:rPr>
              <a:t>DATA MANIPULATION</a:t>
            </a:r>
          </a:p>
          <a:p>
            <a:pPr marL="800100" lvl="1" indent="-342900">
              <a:buFont typeface="Arial" panose="020B0604020202020204" pitchFamily="34" charset="0"/>
              <a:buChar char="•"/>
            </a:pPr>
            <a:r>
              <a:rPr lang="en-IN" sz="1600" dirty="0">
                <a:latin typeface="Helvetica" pitchFamily="2" charset="0"/>
              </a:rPr>
              <a:t>Removing inconsistencies and duplicates from the data, table by table, to maintain consistency </a:t>
            </a:r>
          </a:p>
          <a:p>
            <a:pPr marL="800100" lvl="1" indent="-342900">
              <a:buFont typeface="Arial" panose="020B0604020202020204" pitchFamily="34" charset="0"/>
              <a:buChar char="•"/>
            </a:pPr>
            <a:endParaRPr lang="en-IN" sz="1600" dirty="0">
              <a:latin typeface="Helvetica" pitchFamily="2" charset="0"/>
            </a:endParaRPr>
          </a:p>
          <a:p>
            <a:pPr marL="342900" indent="-342900">
              <a:buFont typeface="+mj-lt"/>
              <a:buAutoNum type="alphaUcPeriod"/>
            </a:pPr>
            <a:r>
              <a:rPr lang="en-IN" sz="1600" b="1" dirty="0">
                <a:latin typeface="Helvetica" pitchFamily="2" charset="0"/>
              </a:rPr>
              <a:t>DATA ANALYSIS </a:t>
            </a:r>
          </a:p>
          <a:p>
            <a:pPr marL="800100" lvl="1" indent="-342900">
              <a:buFont typeface="Arial" panose="020B0604020202020204" pitchFamily="34" charset="0"/>
              <a:buChar char="•"/>
            </a:pPr>
            <a:r>
              <a:rPr lang="en-IN" sz="1600" dirty="0">
                <a:latin typeface="Helvetica" pitchFamily="2" charset="0"/>
              </a:rPr>
              <a:t>Customer Behaviour Analysis to map how our customer behaves and what the frictions and accelerators are</a:t>
            </a:r>
          </a:p>
          <a:p>
            <a:pPr marL="800100" lvl="1" indent="-342900">
              <a:buFont typeface="Arial" panose="020B0604020202020204" pitchFamily="34" charset="0"/>
              <a:buChar char="•"/>
            </a:pPr>
            <a:r>
              <a:rPr lang="en-IN" sz="1600" dirty="0">
                <a:latin typeface="Helvetica" pitchFamily="2" charset="0"/>
              </a:rPr>
              <a:t>Demographical Analysis to segregate groups that have low performance and high churn</a:t>
            </a:r>
          </a:p>
          <a:p>
            <a:pPr marL="800100" lvl="1" indent="-342900">
              <a:buFont typeface="Arial" panose="020B0604020202020204" pitchFamily="34" charset="0"/>
              <a:buChar char="•"/>
            </a:pPr>
            <a:r>
              <a:rPr lang="en-IN" sz="1600" dirty="0">
                <a:latin typeface="Helvetica" pitchFamily="2" charset="0"/>
              </a:rPr>
              <a:t> Time series Analysis to detect any joining or leaving pattern of risky customers</a:t>
            </a:r>
          </a:p>
          <a:p>
            <a:pPr marL="800100" lvl="1" indent="-342900">
              <a:buFont typeface="Arial" panose="020B0604020202020204" pitchFamily="34" charset="0"/>
              <a:buChar char="•"/>
            </a:pPr>
            <a:endParaRPr lang="en-IN" sz="1600" dirty="0">
              <a:latin typeface="Helvetica" pitchFamily="2" charset="0"/>
            </a:endParaRPr>
          </a:p>
          <a:p>
            <a:pPr marL="342900" indent="-342900">
              <a:buFont typeface="+mj-lt"/>
              <a:buAutoNum type="alphaUcPeriod"/>
            </a:pPr>
            <a:r>
              <a:rPr lang="en-IN" sz="1600" b="1" dirty="0">
                <a:latin typeface="Helvetica" pitchFamily="2" charset="0"/>
              </a:rPr>
              <a:t>VISUALIZATIONS</a:t>
            </a:r>
          </a:p>
          <a:p>
            <a:pPr marL="800100" lvl="1" indent="-342900">
              <a:buFont typeface="Arial" panose="020B0604020202020204" pitchFamily="34" charset="0"/>
              <a:buChar char="•"/>
            </a:pPr>
            <a:r>
              <a:rPr lang="en-IN" sz="1600" dirty="0">
                <a:latin typeface="Helvetica" pitchFamily="2" charset="0"/>
              </a:rPr>
              <a:t>Developing a KPI Dashboard to summarize individual analysis findings</a:t>
            </a:r>
          </a:p>
        </p:txBody>
      </p:sp>
    </p:spTree>
    <p:extLst>
      <p:ext uri="{BB962C8B-B14F-4D97-AF65-F5344CB8AC3E}">
        <p14:creationId xmlns:p14="http://schemas.microsoft.com/office/powerpoint/2010/main" val="2963197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07F20-C30B-4817-E261-6A3ED3B4034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D045ED1-CA04-0013-C050-E4929684CA21}"/>
              </a:ext>
            </a:extLst>
          </p:cNvPr>
          <p:cNvSpPr txBox="1"/>
          <p:nvPr/>
        </p:nvSpPr>
        <p:spPr>
          <a:xfrm>
            <a:off x="2448911" y="2921169"/>
            <a:ext cx="7294179" cy="1015663"/>
          </a:xfrm>
          <a:prstGeom prst="rect">
            <a:avLst/>
          </a:prstGeom>
          <a:noFill/>
        </p:spPr>
        <p:txBody>
          <a:bodyPr wrap="square">
            <a:spAutoFit/>
          </a:bodyPr>
          <a:lstStyle/>
          <a:p>
            <a:pPr algn="ctr"/>
            <a:r>
              <a:rPr lang="en-IN" sz="6000" b="1" dirty="0">
                <a:solidFill>
                  <a:schemeClr val="accent2"/>
                </a:solidFill>
                <a:latin typeface="Helvetica" pitchFamily="2" charset="0"/>
                <a:ea typeface="Verdana" panose="020B0604030504040204" pitchFamily="34" charset="0"/>
              </a:rPr>
              <a:t>ANALYSIS PHASE</a:t>
            </a:r>
            <a:endParaRPr lang="en-IN" sz="6000" b="1" dirty="0">
              <a:solidFill>
                <a:schemeClr val="accent2"/>
              </a:solidFill>
            </a:endParaRPr>
          </a:p>
        </p:txBody>
      </p:sp>
    </p:spTree>
    <p:extLst>
      <p:ext uri="{BB962C8B-B14F-4D97-AF65-F5344CB8AC3E}">
        <p14:creationId xmlns:p14="http://schemas.microsoft.com/office/powerpoint/2010/main" val="1042288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49788-D104-45D8-615D-A8681A65ED5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49BE0BD-0E7E-F044-F45D-4575AC325F11}"/>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Customer Behaviour Analysis</a:t>
            </a:r>
            <a:endParaRPr lang="en-IN" sz="3200" b="1" dirty="0">
              <a:solidFill>
                <a:schemeClr val="bg1"/>
              </a:solidFill>
            </a:endParaRPr>
          </a:p>
        </p:txBody>
      </p:sp>
      <p:sp>
        <p:nvSpPr>
          <p:cNvPr id="6" name="TextBox 5">
            <a:extLst>
              <a:ext uri="{FF2B5EF4-FFF2-40B4-BE49-F238E27FC236}">
                <a16:creationId xmlns:a16="http://schemas.microsoft.com/office/drawing/2014/main" id="{5273490A-B172-A633-BA86-ABF9E816DFBF}"/>
              </a:ext>
            </a:extLst>
          </p:cNvPr>
          <p:cNvSpPr txBox="1"/>
          <p:nvPr/>
        </p:nvSpPr>
        <p:spPr>
          <a:xfrm>
            <a:off x="1037518" y="5183871"/>
            <a:ext cx="10116962" cy="646331"/>
          </a:xfrm>
          <a:prstGeom prst="rect">
            <a:avLst/>
          </a:prstGeom>
          <a:noFill/>
          <a:ln w="19050">
            <a:solidFill>
              <a:schemeClr val="accent1">
                <a:lumMod val="75000"/>
              </a:schemeClr>
            </a:solidFill>
            <a:prstDash val="dash"/>
          </a:ln>
        </p:spPr>
        <p:txBody>
          <a:bodyPr wrap="square">
            <a:spAutoFit/>
          </a:bodyPr>
          <a:lstStyle/>
          <a:p>
            <a:pPr algn="ctr"/>
            <a:r>
              <a:rPr lang="en-IN" dirty="0">
                <a:latin typeface="Helvetica" pitchFamily="2" charset="0"/>
              </a:rPr>
              <a:t>There are </a:t>
            </a:r>
            <a:r>
              <a:rPr lang="en-IN" b="1" dirty="0">
                <a:latin typeface="Helvetica" pitchFamily="2" charset="0"/>
              </a:rPr>
              <a:t>10000 total customers</a:t>
            </a:r>
            <a:r>
              <a:rPr lang="en-IN" dirty="0">
                <a:latin typeface="Helvetica" pitchFamily="2" charset="0"/>
              </a:rPr>
              <a:t>, out of which </a:t>
            </a:r>
            <a:r>
              <a:rPr lang="en-IN" b="1" dirty="0">
                <a:latin typeface="Helvetica" pitchFamily="2" charset="0"/>
              </a:rPr>
              <a:t>51.51% customers are active </a:t>
            </a:r>
            <a:r>
              <a:rPr lang="en-IN" dirty="0">
                <a:latin typeface="Helvetica" pitchFamily="2" charset="0"/>
              </a:rPr>
              <a:t>customers. About </a:t>
            </a:r>
            <a:r>
              <a:rPr lang="en-IN" b="1" dirty="0">
                <a:latin typeface="Helvetica" pitchFamily="2" charset="0"/>
              </a:rPr>
              <a:t>70.55% </a:t>
            </a:r>
            <a:r>
              <a:rPr lang="en-IN" dirty="0">
                <a:latin typeface="Helvetica" pitchFamily="2" charset="0"/>
              </a:rPr>
              <a:t>of total customers have a </a:t>
            </a:r>
            <a:r>
              <a:rPr lang="en-IN" b="1" dirty="0">
                <a:latin typeface="Helvetica" pitchFamily="2" charset="0"/>
              </a:rPr>
              <a:t>credit card</a:t>
            </a:r>
            <a:r>
              <a:rPr lang="en-IN" dirty="0">
                <a:latin typeface="Helvetica" pitchFamily="2" charset="0"/>
              </a:rPr>
              <a:t>. </a:t>
            </a:r>
            <a:r>
              <a:rPr lang="en-IN" b="1" dirty="0">
                <a:latin typeface="Helvetica" pitchFamily="2" charset="0"/>
              </a:rPr>
              <a:t>One out of every five </a:t>
            </a:r>
            <a:r>
              <a:rPr lang="en-IN" dirty="0">
                <a:latin typeface="Helvetica" pitchFamily="2" charset="0"/>
              </a:rPr>
              <a:t>customers churned.</a:t>
            </a:r>
            <a:endParaRPr lang="en-IN" b="1" dirty="0"/>
          </a:p>
        </p:txBody>
      </p:sp>
      <p:pic>
        <p:nvPicPr>
          <p:cNvPr id="4" name="Picture 3">
            <a:extLst>
              <a:ext uri="{FF2B5EF4-FFF2-40B4-BE49-F238E27FC236}">
                <a16:creationId xmlns:a16="http://schemas.microsoft.com/office/drawing/2014/main" id="{D70B9CBF-2BED-B683-DED8-12B171B3B496}"/>
              </a:ext>
            </a:extLst>
          </p:cNvPr>
          <p:cNvPicPr>
            <a:picLocks noChangeAspect="1"/>
          </p:cNvPicPr>
          <p:nvPr/>
        </p:nvPicPr>
        <p:blipFill>
          <a:blip r:embed="rId2"/>
          <a:stretch>
            <a:fillRect/>
          </a:stretch>
        </p:blipFill>
        <p:spPr>
          <a:xfrm>
            <a:off x="1037518" y="2587323"/>
            <a:ext cx="10116962" cy="990738"/>
          </a:xfrm>
          <a:prstGeom prst="rect">
            <a:avLst/>
          </a:prstGeom>
        </p:spPr>
      </p:pic>
    </p:spTree>
    <p:extLst>
      <p:ext uri="{BB962C8B-B14F-4D97-AF65-F5344CB8AC3E}">
        <p14:creationId xmlns:p14="http://schemas.microsoft.com/office/powerpoint/2010/main" val="1921566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BE258-7981-CCEE-9498-7DC4D602ED4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5EFD76E-4555-AC93-B240-BA848054D247}"/>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Customer Behaviour Analysis</a:t>
            </a:r>
            <a:endParaRPr lang="en-IN" sz="3200" b="1" dirty="0">
              <a:solidFill>
                <a:schemeClr val="bg1"/>
              </a:solidFill>
            </a:endParaRPr>
          </a:p>
        </p:txBody>
      </p:sp>
      <p:sp>
        <p:nvSpPr>
          <p:cNvPr id="6" name="TextBox 5">
            <a:extLst>
              <a:ext uri="{FF2B5EF4-FFF2-40B4-BE49-F238E27FC236}">
                <a16:creationId xmlns:a16="http://schemas.microsoft.com/office/drawing/2014/main" id="{7DBE5863-8964-3ADE-1094-F7756A1FB350}"/>
              </a:ext>
            </a:extLst>
          </p:cNvPr>
          <p:cNvSpPr txBox="1"/>
          <p:nvPr/>
        </p:nvSpPr>
        <p:spPr>
          <a:xfrm>
            <a:off x="1037518" y="5183871"/>
            <a:ext cx="10116962" cy="646331"/>
          </a:xfrm>
          <a:prstGeom prst="rect">
            <a:avLst/>
          </a:prstGeom>
          <a:noFill/>
          <a:ln w="19050">
            <a:solidFill>
              <a:schemeClr val="accent1">
                <a:lumMod val="75000"/>
              </a:schemeClr>
            </a:solidFill>
            <a:prstDash val="dash"/>
          </a:ln>
        </p:spPr>
        <p:txBody>
          <a:bodyPr wrap="square">
            <a:spAutoFit/>
          </a:bodyPr>
          <a:lstStyle/>
          <a:p>
            <a:pPr algn="ctr"/>
            <a:r>
              <a:rPr lang="en-IN" dirty="0">
                <a:latin typeface="Helvetica" pitchFamily="2" charset="0"/>
              </a:rPr>
              <a:t>Customer </a:t>
            </a:r>
            <a:r>
              <a:rPr lang="en-IN" b="1" dirty="0">
                <a:latin typeface="Helvetica" pitchFamily="2" charset="0"/>
              </a:rPr>
              <a:t>Churn</a:t>
            </a:r>
            <a:r>
              <a:rPr lang="en-IN" dirty="0">
                <a:latin typeface="Helvetica" pitchFamily="2" charset="0"/>
              </a:rPr>
              <a:t> is </a:t>
            </a:r>
            <a:r>
              <a:rPr lang="en-US" b="1" dirty="0">
                <a:latin typeface="Helvetica" pitchFamily="2" charset="0"/>
              </a:rPr>
              <a:t>approximately</a:t>
            </a:r>
            <a:r>
              <a:rPr lang="en-US" dirty="0">
                <a:latin typeface="Helvetica" pitchFamily="2" charset="0"/>
              </a:rPr>
              <a:t> </a:t>
            </a:r>
            <a:r>
              <a:rPr lang="en-US" b="1" dirty="0">
                <a:latin typeface="Helvetica" pitchFamily="2" charset="0"/>
              </a:rPr>
              <a:t>10% higher </a:t>
            </a:r>
            <a:r>
              <a:rPr lang="en-US" dirty="0">
                <a:latin typeface="Helvetica" pitchFamily="2" charset="0"/>
              </a:rPr>
              <a:t>among </a:t>
            </a:r>
            <a:r>
              <a:rPr lang="en-US" b="1" dirty="0">
                <a:latin typeface="Helvetica" pitchFamily="2" charset="0"/>
              </a:rPr>
              <a:t>inactive members </a:t>
            </a:r>
            <a:r>
              <a:rPr lang="en-US" dirty="0">
                <a:latin typeface="Helvetica" pitchFamily="2" charset="0"/>
              </a:rPr>
              <a:t>compared to active bank members</a:t>
            </a:r>
            <a:r>
              <a:rPr lang="en-IN" dirty="0">
                <a:latin typeface="Helvetica" pitchFamily="2" charset="0"/>
              </a:rPr>
              <a:t>. Keeping in mind that approx. half of the members are active.</a:t>
            </a:r>
            <a:endParaRPr lang="en-IN" b="1" dirty="0"/>
          </a:p>
        </p:txBody>
      </p:sp>
      <p:pic>
        <p:nvPicPr>
          <p:cNvPr id="5" name="Picture 4">
            <a:extLst>
              <a:ext uri="{FF2B5EF4-FFF2-40B4-BE49-F238E27FC236}">
                <a16:creationId xmlns:a16="http://schemas.microsoft.com/office/drawing/2014/main" id="{E1FC8AD3-3698-EE46-571D-E10E6BE6539C}"/>
              </a:ext>
            </a:extLst>
          </p:cNvPr>
          <p:cNvPicPr>
            <a:picLocks noChangeAspect="1"/>
          </p:cNvPicPr>
          <p:nvPr/>
        </p:nvPicPr>
        <p:blipFill>
          <a:blip r:embed="rId2"/>
          <a:stretch>
            <a:fillRect/>
          </a:stretch>
        </p:blipFill>
        <p:spPr>
          <a:xfrm>
            <a:off x="3847072" y="1280096"/>
            <a:ext cx="4497856" cy="3442359"/>
          </a:xfrm>
          <a:prstGeom prst="rect">
            <a:avLst/>
          </a:prstGeom>
        </p:spPr>
      </p:pic>
    </p:spTree>
    <p:extLst>
      <p:ext uri="{BB962C8B-B14F-4D97-AF65-F5344CB8AC3E}">
        <p14:creationId xmlns:p14="http://schemas.microsoft.com/office/powerpoint/2010/main" val="603149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46F74-8A26-DA10-66F3-49837ADCFE8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5F138B5-3951-1D9F-BC1C-87224997C930}"/>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Customer Behaviour Analysis</a:t>
            </a:r>
            <a:endParaRPr lang="en-IN" sz="3200" b="1" dirty="0">
              <a:solidFill>
                <a:schemeClr val="bg1"/>
              </a:solidFill>
            </a:endParaRPr>
          </a:p>
        </p:txBody>
      </p:sp>
      <p:sp>
        <p:nvSpPr>
          <p:cNvPr id="6" name="TextBox 5">
            <a:extLst>
              <a:ext uri="{FF2B5EF4-FFF2-40B4-BE49-F238E27FC236}">
                <a16:creationId xmlns:a16="http://schemas.microsoft.com/office/drawing/2014/main" id="{282DAE38-C329-5828-9958-88663B72F451}"/>
              </a:ext>
            </a:extLst>
          </p:cNvPr>
          <p:cNvSpPr txBox="1"/>
          <p:nvPr/>
        </p:nvSpPr>
        <p:spPr>
          <a:xfrm>
            <a:off x="1037517" y="4952643"/>
            <a:ext cx="10116962" cy="1200329"/>
          </a:xfrm>
          <a:prstGeom prst="rect">
            <a:avLst/>
          </a:prstGeom>
          <a:noFill/>
          <a:ln w="19050">
            <a:solidFill>
              <a:schemeClr val="accent1">
                <a:lumMod val="75000"/>
              </a:schemeClr>
            </a:solidFill>
            <a:prstDash val="dash"/>
          </a:ln>
        </p:spPr>
        <p:txBody>
          <a:bodyPr wrap="square">
            <a:spAutoFit/>
          </a:bodyPr>
          <a:lstStyle/>
          <a:p>
            <a:pPr algn="ctr"/>
            <a:r>
              <a:rPr lang="en-IN" dirty="0">
                <a:latin typeface="Helvetica" pitchFamily="2" charset="0"/>
              </a:rPr>
              <a:t>Considering the customer having a tenure </a:t>
            </a:r>
            <a:r>
              <a:rPr lang="en-IN" b="1" dirty="0">
                <a:latin typeface="Helvetica" pitchFamily="2" charset="0"/>
              </a:rPr>
              <a:t>&gt;4 years as long-term and the rest as new</a:t>
            </a:r>
            <a:r>
              <a:rPr lang="en-IN" dirty="0">
                <a:latin typeface="Helvetica" pitchFamily="2" charset="0"/>
              </a:rPr>
              <a:t>. We can derive that customers who have just become long-term, </a:t>
            </a:r>
            <a:r>
              <a:rPr lang="en-IN" dirty="0" err="1">
                <a:latin typeface="Helvetica" pitchFamily="2" charset="0"/>
              </a:rPr>
              <a:t>i.e</a:t>
            </a:r>
            <a:r>
              <a:rPr lang="en-IN" dirty="0">
                <a:latin typeface="Helvetica" pitchFamily="2" charset="0"/>
              </a:rPr>
              <a:t>, having tenure of </a:t>
            </a:r>
            <a:r>
              <a:rPr lang="en-IN" b="1" dirty="0">
                <a:latin typeface="Helvetica" pitchFamily="2" charset="0"/>
              </a:rPr>
              <a:t>5 years, have a higher churn rate of 21.91%, and the lowest active members are about 50.68% </a:t>
            </a:r>
            <a:r>
              <a:rPr lang="en-IN" dirty="0">
                <a:latin typeface="Helvetica" pitchFamily="2" charset="0"/>
              </a:rPr>
              <a:t>followed by new customers having a </a:t>
            </a:r>
            <a:r>
              <a:rPr lang="en-IN" b="1" dirty="0">
                <a:latin typeface="Helvetica" pitchFamily="2" charset="0"/>
              </a:rPr>
              <a:t>tenure of 6 years</a:t>
            </a:r>
            <a:r>
              <a:rPr lang="en-IN" dirty="0">
                <a:latin typeface="Helvetica" pitchFamily="2" charset="0"/>
              </a:rPr>
              <a:t>. </a:t>
            </a:r>
            <a:endParaRPr lang="en-IN" b="1" dirty="0"/>
          </a:p>
        </p:txBody>
      </p:sp>
      <p:pic>
        <p:nvPicPr>
          <p:cNvPr id="8" name="Picture 7">
            <a:extLst>
              <a:ext uri="{FF2B5EF4-FFF2-40B4-BE49-F238E27FC236}">
                <a16:creationId xmlns:a16="http://schemas.microsoft.com/office/drawing/2014/main" id="{F632E11A-D464-91F3-2D55-86FB441A403F}"/>
              </a:ext>
            </a:extLst>
          </p:cNvPr>
          <p:cNvPicPr>
            <a:picLocks noChangeAspect="1"/>
          </p:cNvPicPr>
          <p:nvPr/>
        </p:nvPicPr>
        <p:blipFill>
          <a:blip r:embed="rId2"/>
          <a:stretch>
            <a:fillRect/>
          </a:stretch>
        </p:blipFill>
        <p:spPr>
          <a:xfrm>
            <a:off x="1037517" y="1460939"/>
            <a:ext cx="10117478" cy="3188002"/>
          </a:xfrm>
          <a:prstGeom prst="rect">
            <a:avLst/>
          </a:prstGeom>
        </p:spPr>
      </p:pic>
    </p:spTree>
    <p:extLst>
      <p:ext uri="{BB962C8B-B14F-4D97-AF65-F5344CB8AC3E}">
        <p14:creationId xmlns:p14="http://schemas.microsoft.com/office/powerpoint/2010/main" val="2185337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062F9-DEFC-3BD7-9E39-E996EBFCB3F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7A1C7A2-6448-427A-0B23-379E999633EF}"/>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Customer Behaviour Analysis</a:t>
            </a:r>
            <a:endParaRPr lang="en-IN" sz="3200" b="1" dirty="0">
              <a:solidFill>
                <a:schemeClr val="bg1"/>
              </a:solidFill>
            </a:endParaRPr>
          </a:p>
        </p:txBody>
      </p:sp>
      <p:sp>
        <p:nvSpPr>
          <p:cNvPr id="6" name="TextBox 5">
            <a:extLst>
              <a:ext uri="{FF2B5EF4-FFF2-40B4-BE49-F238E27FC236}">
                <a16:creationId xmlns:a16="http://schemas.microsoft.com/office/drawing/2014/main" id="{2F5DC7C8-3BD1-80B7-3D19-B524D221B8EE}"/>
              </a:ext>
            </a:extLst>
          </p:cNvPr>
          <p:cNvSpPr txBox="1"/>
          <p:nvPr/>
        </p:nvSpPr>
        <p:spPr>
          <a:xfrm>
            <a:off x="1037517" y="4952643"/>
            <a:ext cx="10116962" cy="923330"/>
          </a:xfrm>
          <a:prstGeom prst="rect">
            <a:avLst/>
          </a:prstGeom>
          <a:noFill/>
          <a:ln w="19050">
            <a:solidFill>
              <a:schemeClr val="accent1">
                <a:lumMod val="75000"/>
              </a:schemeClr>
            </a:solidFill>
            <a:prstDash val="dash"/>
          </a:ln>
        </p:spPr>
        <p:txBody>
          <a:bodyPr wrap="square">
            <a:spAutoFit/>
          </a:bodyPr>
          <a:lstStyle/>
          <a:p>
            <a:pPr algn="ctr"/>
            <a:r>
              <a:rPr lang="en-IN" dirty="0"/>
              <a:t>Customers with a </a:t>
            </a:r>
            <a:r>
              <a:rPr lang="en-IN" b="1" dirty="0"/>
              <a:t>Poor credit </a:t>
            </a:r>
            <a:r>
              <a:rPr lang="en-IN" dirty="0"/>
              <a:t>rating have the </a:t>
            </a:r>
            <a:r>
              <a:rPr lang="en-IN" b="1" dirty="0"/>
              <a:t>highest churn rate and lowest activeness</a:t>
            </a:r>
            <a:r>
              <a:rPr lang="en-IN" dirty="0"/>
              <a:t>. While the </a:t>
            </a:r>
            <a:r>
              <a:rPr lang="en-IN" b="1" dirty="0"/>
              <a:t>highest activeness </a:t>
            </a:r>
            <a:r>
              <a:rPr lang="en-IN" dirty="0"/>
              <a:t>is seen in customers with </a:t>
            </a:r>
            <a:r>
              <a:rPr lang="en-IN" b="1" dirty="0"/>
              <a:t>Exceptional rating</a:t>
            </a:r>
            <a:r>
              <a:rPr lang="en-IN" dirty="0"/>
              <a:t>, and the </a:t>
            </a:r>
            <a:r>
              <a:rPr lang="en-IN" b="1" dirty="0"/>
              <a:t>lowest churn </a:t>
            </a:r>
            <a:r>
              <a:rPr lang="en-IN" dirty="0"/>
              <a:t>rate is in </a:t>
            </a:r>
            <a:r>
              <a:rPr lang="en-IN" b="1" dirty="0"/>
              <a:t>Good ratings</a:t>
            </a:r>
            <a:r>
              <a:rPr lang="en-IN" dirty="0"/>
              <a:t>, combined with the </a:t>
            </a:r>
            <a:r>
              <a:rPr lang="en-IN" b="1" dirty="0"/>
              <a:t>second-highest active customers</a:t>
            </a:r>
            <a:r>
              <a:rPr lang="en-IN" dirty="0"/>
              <a:t>.</a:t>
            </a:r>
          </a:p>
        </p:txBody>
      </p:sp>
      <p:pic>
        <p:nvPicPr>
          <p:cNvPr id="5" name="Picture 4">
            <a:extLst>
              <a:ext uri="{FF2B5EF4-FFF2-40B4-BE49-F238E27FC236}">
                <a16:creationId xmlns:a16="http://schemas.microsoft.com/office/drawing/2014/main" id="{81DABD62-A83B-22A5-7B62-592820B29695}"/>
              </a:ext>
            </a:extLst>
          </p:cNvPr>
          <p:cNvPicPr>
            <a:picLocks noChangeAspect="1"/>
          </p:cNvPicPr>
          <p:nvPr/>
        </p:nvPicPr>
        <p:blipFill>
          <a:blip r:embed="rId2"/>
          <a:stretch>
            <a:fillRect/>
          </a:stretch>
        </p:blipFill>
        <p:spPr>
          <a:xfrm>
            <a:off x="1037519" y="1361439"/>
            <a:ext cx="10116962" cy="3191923"/>
          </a:xfrm>
          <a:prstGeom prst="rect">
            <a:avLst/>
          </a:prstGeom>
        </p:spPr>
      </p:pic>
    </p:spTree>
    <p:extLst>
      <p:ext uri="{BB962C8B-B14F-4D97-AF65-F5344CB8AC3E}">
        <p14:creationId xmlns:p14="http://schemas.microsoft.com/office/powerpoint/2010/main" val="4225354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7C6F7-F083-032A-AE69-2FCC43E2E3F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15712-1D96-7CCE-8686-A51FCEC204A9}"/>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Customer Behaviour Analysis</a:t>
            </a:r>
            <a:endParaRPr lang="en-IN" sz="3200" b="1" dirty="0">
              <a:solidFill>
                <a:schemeClr val="bg1"/>
              </a:solidFill>
            </a:endParaRPr>
          </a:p>
        </p:txBody>
      </p:sp>
      <p:sp>
        <p:nvSpPr>
          <p:cNvPr id="6" name="TextBox 5">
            <a:extLst>
              <a:ext uri="{FF2B5EF4-FFF2-40B4-BE49-F238E27FC236}">
                <a16:creationId xmlns:a16="http://schemas.microsoft.com/office/drawing/2014/main" id="{29B8E2FE-F233-D9A8-123A-C6845D98D8A4}"/>
              </a:ext>
            </a:extLst>
          </p:cNvPr>
          <p:cNvSpPr txBox="1"/>
          <p:nvPr/>
        </p:nvSpPr>
        <p:spPr>
          <a:xfrm>
            <a:off x="1037517" y="4952643"/>
            <a:ext cx="10116962" cy="923330"/>
          </a:xfrm>
          <a:prstGeom prst="rect">
            <a:avLst/>
          </a:prstGeom>
          <a:noFill/>
          <a:ln w="19050">
            <a:solidFill>
              <a:schemeClr val="accent1">
                <a:lumMod val="75000"/>
              </a:schemeClr>
            </a:solidFill>
            <a:prstDash val="dash"/>
          </a:ln>
        </p:spPr>
        <p:txBody>
          <a:bodyPr wrap="square">
            <a:spAutoFit/>
          </a:bodyPr>
          <a:lstStyle/>
          <a:p>
            <a:pPr algn="ctr"/>
            <a:r>
              <a:rPr lang="en-IN" dirty="0"/>
              <a:t>There is a </a:t>
            </a:r>
            <a:r>
              <a:rPr lang="en-IN" b="1" dirty="0"/>
              <a:t>100% churn rate </a:t>
            </a:r>
            <a:r>
              <a:rPr lang="en-IN" dirty="0"/>
              <a:t>among customers who have </a:t>
            </a:r>
            <a:r>
              <a:rPr lang="en-IN" b="1" dirty="0"/>
              <a:t>4 products</a:t>
            </a:r>
            <a:r>
              <a:rPr lang="en-IN" dirty="0"/>
              <a:t>. About </a:t>
            </a:r>
            <a:r>
              <a:rPr lang="en-IN" b="1" dirty="0"/>
              <a:t>three out of every four </a:t>
            </a:r>
            <a:r>
              <a:rPr lang="en-IN" dirty="0"/>
              <a:t>customers </a:t>
            </a:r>
            <a:r>
              <a:rPr lang="en-IN" b="1" dirty="0"/>
              <a:t>leave</a:t>
            </a:r>
            <a:r>
              <a:rPr lang="en-IN" dirty="0"/>
              <a:t> if they have </a:t>
            </a:r>
            <a:r>
              <a:rPr lang="en-IN" b="1" dirty="0"/>
              <a:t>3 products</a:t>
            </a:r>
            <a:r>
              <a:rPr lang="en-IN" dirty="0"/>
              <a:t>. At the same time, the </a:t>
            </a:r>
            <a:r>
              <a:rPr lang="en-IN" b="1" dirty="0"/>
              <a:t>retention rate is highest </a:t>
            </a:r>
            <a:r>
              <a:rPr lang="en-IN" dirty="0"/>
              <a:t>in customers having </a:t>
            </a:r>
            <a:r>
              <a:rPr lang="en-IN" b="1" dirty="0"/>
              <a:t>2 products</a:t>
            </a:r>
            <a:r>
              <a:rPr lang="en-IN" dirty="0"/>
              <a:t>.  </a:t>
            </a:r>
            <a:r>
              <a:rPr lang="en-IN" b="1" dirty="0"/>
              <a:t>Non-credit card holders </a:t>
            </a:r>
            <a:r>
              <a:rPr lang="en-IN" dirty="0"/>
              <a:t>have a </a:t>
            </a:r>
            <a:r>
              <a:rPr lang="en-IN" b="1" dirty="0"/>
              <a:t>higher churn rate </a:t>
            </a:r>
            <a:r>
              <a:rPr lang="en-IN" dirty="0"/>
              <a:t>than </a:t>
            </a:r>
            <a:r>
              <a:rPr lang="en-IN" b="1" dirty="0"/>
              <a:t>credit card holders</a:t>
            </a:r>
            <a:r>
              <a:rPr lang="en-IN" dirty="0"/>
              <a:t>. </a:t>
            </a:r>
          </a:p>
        </p:txBody>
      </p:sp>
      <p:pic>
        <p:nvPicPr>
          <p:cNvPr id="4" name="Picture 3">
            <a:extLst>
              <a:ext uri="{FF2B5EF4-FFF2-40B4-BE49-F238E27FC236}">
                <a16:creationId xmlns:a16="http://schemas.microsoft.com/office/drawing/2014/main" id="{CC9F8A39-8570-48B0-9779-0B729341A580}"/>
              </a:ext>
            </a:extLst>
          </p:cNvPr>
          <p:cNvPicPr>
            <a:picLocks noChangeAspect="1"/>
          </p:cNvPicPr>
          <p:nvPr/>
        </p:nvPicPr>
        <p:blipFill>
          <a:blip r:embed="rId2"/>
          <a:stretch>
            <a:fillRect/>
          </a:stretch>
        </p:blipFill>
        <p:spPr>
          <a:xfrm>
            <a:off x="3872442" y="1203393"/>
            <a:ext cx="4447115" cy="3411007"/>
          </a:xfrm>
          <a:prstGeom prst="rect">
            <a:avLst/>
          </a:prstGeom>
        </p:spPr>
      </p:pic>
    </p:spTree>
    <p:extLst>
      <p:ext uri="{BB962C8B-B14F-4D97-AF65-F5344CB8AC3E}">
        <p14:creationId xmlns:p14="http://schemas.microsoft.com/office/powerpoint/2010/main" val="1229632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6C30A-8307-21DF-E9ED-F83996A34C0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4D133B8-916F-F41B-B189-79D6721A2038}"/>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Customer Behaviour Analysis</a:t>
            </a:r>
            <a:endParaRPr lang="en-IN" sz="3200" b="1" dirty="0">
              <a:solidFill>
                <a:schemeClr val="bg1"/>
              </a:solidFill>
            </a:endParaRPr>
          </a:p>
        </p:txBody>
      </p:sp>
      <p:sp>
        <p:nvSpPr>
          <p:cNvPr id="6" name="TextBox 5">
            <a:extLst>
              <a:ext uri="{FF2B5EF4-FFF2-40B4-BE49-F238E27FC236}">
                <a16:creationId xmlns:a16="http://schemas.microsoft.com/office/drawing/2014/main" id="{50C7F9BF-3B80-CA6B-1C43-D538DF1C8161}"/>
              </a:ext>
            </a:extLst>
          </p:cNvPr>
          <p:cNvSpPr txBox="1"/>
          <p:nvPr/>
        </p:nvSpPr>
        <p:spPr>
          <a:xfrm>
            <a:off x="3125325" y="1147898"/>
            <a:ext cx="5941350" cy="461665"/>
          </a:xfrm>
          <a:prstGeom prst="rect">
            <a:avLst/>
          </a:prstGeom>
          <a:noFill/>
          <a:ln w="19050">
            <a:solidFill>
              <a:schemeClr val="accent1">
                <a:lumMod val="75000"/>
              </a:schemeClr>
            </a:solidFill>
            <a:prstDash val="dash"/>
          </a:ln>
        </p:spPr>
        <p:txBody>
          <a:bodyPr wrap="square">
            <a:spAutoFit/>
          </a:bodyPr>
          <a:lstStyle/>
          <a:p>
            <a:pPr algn="ctr"/>
            <a:r>
              <a:rPr lang="en-IN" sz="2400" b="1" dirty="0"/>
              <a:t>ABNORMALITIES BEHAVIORAL INSIGHTS</a:t>
            </a:r>
          </a:p>
        </p:txBody>
      </p:sp>
      <p:graphicFrame>
        <p:nvGraphicFramePr>
          <p:cNvPr id="3" name="Table 2">
            <a:extLst>
              <a:ext uri="{FF2B5EF4-FFF2-40B4-BE49-F238E27FC236}">
                <a16:creationId xmlns:a16="http://schemas.microsoft.com/office/drawing/2014/main" id="{2D21D1F7-A5A1-1DBA-F602-3771219F462E}"/>
              </a:ext>
            </a:extLst>
          </p:cNvPr>
          <p:cNvGraphicFramePr>
            <a:graphicFrameLocks noGrp="1"/>
          </p:cNvGraphicFramePr>
          <p:nvPr>
            <p:extLst>
              <p:ext uri="{D42A27DB-BD31-4B8C-83A1-F6EECF244321}">
                <p14:modId xmlns:p14="http://schemas.microsoft.com/office/powerpoint/2010/main" val="861575219"/>
              </p:ext>
            </p:extLst>
          </p:nvPr>
        </p:nvGraphicFramePr>
        <p:xfrm>
          <a:off x="696000" y="2099114"/>
          <a:ext cx="10800000" cy="3967480"/>
        </p:xfrm>
        <a:graphic>
          <a:graphicData uri="http://schemas.openxmlformats.org/drawingml/2006/table">
            <a:tbl>
              <a:tblPr firstRow="1" bandRow="1">
                <a:tableStyleId>{8A107856-5554-42FB-B03E-39F5DBC370BA}</a:tableStyleId>
              </a:tblPr>
              <a:tblGrid>
                <a:gridCol w="2562207">
                  <a:extLst>
                    <a:ext uri="{9D8B030D-6E8A-4147-A177-3AD203B41FA5}">
                      <a16:colId xmlns:a16="http://schemas.microsoft.com/office/drawing/2014/main" val="2913621445"/>
                    </a:ext>
                  </a:extLst>
                </a:gridCol>
                <a:gridCol w="8237793">
                  <a:extLst>
                    <a:ext uri="{9D8B030D-6E8A-4147-A177-3AD203B41FA5}">
                      <a16:colId xmlns:a16="http://schemas.microsoft.com/office/drawing/2014/main" val="3834733218"/>
                    </a:ext>
                  </a:extLst>
                </a:gridCol>
              </a:tblGrid>
              <a:tr h="370840">
                <a:tc>
                  <a:txBody>
                    <a:bodyPr/>
                    <a:lstStyle/>
                    <a:p>
                      <a:pPr algn="ctr"/>
                      <a:r>
                        <a:rPr lang="en-IN" sz="1800" b="1" kern="1200" dirty="0">
                          <a:solidFill>
                            <a:schemeClr val="bg1"/>
                          </a:solidFill>
                          <a:latin typeface="Helvetica" pitchFamily="2" charset="0"/>
                          <a:ea typeface="Verdana" panose="020B0604030504040204" pitchFamily="34" charset="0"/>
                          <a:cs typeface="+mn-cs"/>
                        </a:rPr>
                        <a:t>Filter Category</a:t>
                      </a:r>
                    </a:p>
                  </a:txBody>
                  <a:tcPr>
                    <a:solidFill>
                      <a:schemeClr val="accent2"/>
                    </a:solidFill>
                  </a:tcPr>
                </a:tc>
                <a:tc>
                  <a:txBody>
                    <a:bodyPr/>
                    <a:lstStyle/>
                    <a:p>
                      <a:pPr algn="ctr"/>
                      <a:r>
                        <a:rPr lang="en-IN" sz="1800" b="1" kern="1200" dirty="0">
                          <a:solidFill>
                            <a:schemeClr val="bg1"/>
                          </a:solidFill>
                          <a:latin typeface="Helvetica" pitchFamily="2" charset="0"/>
                          <a:ea typeface="Verdana" panose="020B0604030504040204" pitchFamily="34" charset="0"/>
                          <a:cs typeface="+mn-cs"/>
                        </a:rPr>
                        <a:t>Insights</a:t>
                      </a:r>
                    </a:p>
                  </a:txBody>
                  <a:tcPr>
                    <a:solidFill>
                      <a:schemeClr val="accent2"/>
                    </a:solidFill>
                  </a:tcPr>
                </a:tc>
                <a:extLst>
                  <a:ext uri="{0D108BD9-81ED-4DB2-BD59-A6C34878D82A}">
                    <a16:rowId xmlns:a16="http://schemas.microsoft.com/office/drawing/2014/main" val="1609204775"/>
                  </a:ext>
                </a:extLst>
              </a:tr>
              <a:tr h="370840">
                <a:tc>
                  <a:txBody>
                    <a:bodyPr/>
                    <a:lstStyle/>
                    <a:p>
                      <a:pPr algn="ctr"/>
                      <a:r>
                        <a:rPr lang="en-IN" sz="1600" b="1" kern="1200" dirty="0">
                          <a:solidFill>
                            <a:schemeClr val="tx1"/>
                          </a:solidFill>
                          <a:latin typeface="Helvetica" pitchFamily="2" charset="0"/>
                          <a:ea typeface="Verdana" panose="020B0604030504040204" pitchFamily="34" charset="0"/>
                          <a:cs typeface="+mn-cs"/>
                        </a:rPr>
                        <a:t>Credit Card Holder or Non-Credit Card Holder</a:t>
                      </a:r>
                    </a:p>
                  </a:txBody>
                  <a:tcPr anchor="ctr"/>
                </a:tc>
                <a:tc>
                  <a:txBody>
                    <a:bodyPr/>
                    <a:lstStyle/>
                    <a:p>
                      <a:pPr marL="285750" indent="-285750">
                        <a:buFont typeface="Arial" panose="020B0604020202020204" pitchFamily="34" charset="0"/>
                        <a:buChar char="•"/>
                      </a:pPr>
                      <a:r>
                        <a:rPr lang="en-IN" sz="1600" b="0" kern="1200" dirty="0">
                          <a:solidFill>
                            <a:schemeClr val="tx1"/>
                          </a:solidFill>
                          <a:latin typeface="Helvetica" pitchFamily="2" charset="0"/>
                          <a:ea typeface="Verdana" panose="020B0604030504040204" pitchFamily="34" charset="0"/>
                          <a:cs typeface="+mn-cs"/>
                        </a:rPr>
                        <a:t>In terms of credit card ratings, non-credit card holder shows an anomaly, i.e., there is a high churn rate in the Exceptional credit rating, nearly the same as the Poor credit rating, about 23.15% churn</a:t>
                      </a:r>
                      <a:br>
                        <a:rPr lang="en-IN" sz="1600" b="0" kern="1200" dirty="0">
                          <a:solidFill>
                            <a:schemeClr val="tx1"/>
                          </a:solidFill>
                          <a:latin typeface="Helvetica" pitchFamily="2" charset="0"/>
                          <a:ea typeface="Verdana" panose="020B0604030504040204" pitchFamily="34" charset="0"/>
                          <a:cs typeface="+mn-cs"/>
                        </a:rPr>
                      </a:br>
                      <a:r>
                        <a:rPr lang="en-IN" sz="1600" b="0" kern="1200" dirty="0">
                          <a:solidFill>
                            <a:schemeClr val="tx1"/>
                          </a:solidFill>
                          <a:latin typeface="Helvetica" pitchFamily="2" charset="0"/>
                          <a:ea typeface="Verdana" panose="020B0604030504040204" pitchFamily="34" charset="0"/>
                          <a:cs typeface="+mn-cs"/>
                        </a:rPr>
                        <a:t> </a:t>
                      </a:r>
                    </a:p>
                    <a:p>
                      <a:pPr marL="285750" indent="-285750">
                        <a:buFont typeface="Arial" panose="020B0604020202020204" pitchFamily="34" charset="0"/>
                        <a:buChar char="•"/>
                      </a:pPr>
                      <a:r>
                        <a:rPr lang="en-IN" sz="1600" b="0" kern="1200" dirty="0">
                          <a:solidFill>
                            <a:schemeClr val="tx1"/>
                          </a:solidFill>
                          <a:latin typeface="Helvetica" pitchFamily="2" charset="0"/>
                          <a:ea typeface="Verdana" panose="020B0604030504040204" pitchFamily="34" charset="0"/>
                          <a:cs typeface="+mn-cs"/>
                        </a:rPr>
                        <a:t>In terms of tenure, new customers have an increased churn in non-credit card holder customers</a:t>
                      </a:r>
                    </a:p>
                  </a:txBody>
                  <a:tcPr/>
                </a:tc>
                <a:extLst>
                  <a:ext uri="{0D108BD9-81ED-4DB2-BD59-A6C34878D82A}">
                    <a16:rowId xmlns:a16="http://schemas.microsoft.com/office/drawing/2014/main" val="694344141"/>
                  </a:ext>
                </a:extLst>
              </a:tr>
              <a:tr h="370840">
                <a:tc>
                  <a:txBody>
                    <a:bodyPr/>
                    <a:lstStyle/>
                    <a:p>
                      <a:pPr algn="ctr"/>
                      <a:r>
                        <a:rPr lang="en-IN" sz="1600" b="1" kern="1200" dirty="0">
                          <a:solidFill>
                            <a:schemeClr val="tx1"/>
                          </a:solidFill>
                          <a:latin typeface="Helvetica" pitchFamily="2" charset="0"/>
                          <a:ea typeface="Verdana" panose="020B0604030504040204" pitchFamily="34" charset="0"/>
                          <a:cs typeface="+mn-cs"/>
                        </a:rPr>
                        <a:t>Age Group: 18-30, 31-50 and 50+</a:t>
                      </a:r>
                    </a:p>
                  </a:txBody>
                  <a:tcPr anchor="ctr"/>
                </a:tc>
                <a:tc>
                  <a:txBody>
                    <a:bodyPr/>
                    <a:lstStyle/>
                    <a:p>
                      <a:pPr marL="285750" indent="-285750">
                        <a:buFont typeface="Arial" panose="020B0604020202020204" pitchFamily="34" charset="0"/>
                        <a:buChar char="•"/>
                      </a:pPr>
                      <a:r>
                        <a:rPr lang="en-IN" sz="1600" b="0" kern="1200" dirty="0">
                          <a:solidFill>
                            <a:schemeClr val="tx1"/>
                          </a:solidFill>
                          <a:latin typeface="Helvetica" pitchFamily="2" charset="0"/>
                          <a:ea typeface="Verdana" panose="020B0604030504040204" pitchFamily="34" charset="0"/>
                          <a:cs typeface="+mn-cs"/>
                        </a:rPr>
                        <a:t>In terms of tenure and credit card ratings, the 18-30 age group doesn’t show any deviations</a:t>
                      </a:r>
                      <a:br>
                        <a:rPr lang="en-IN" sz="1600" b="0" kern="1200" dirty="0">
                          <a:solidFill>
                            <a:schemeClr val="tx1"/>
                          </a:solidFill>
                          <a:latin typeface="Helvetica" pitchFamily="2" charset="0"/>
                          <a:ea typeface="Verdana" panose="020B0604030504040204" pitchFamily="34" charset="0"/>
                          <a:cs typeface="+mn-cs"/>
                        </a:rPr>
                      </a:br>
                      <a:endParaRPr lang="en-IN" sz="1600" b="0" kern="1200" dirty="0">
                        <a:solidFill>
                          <a:schemeClr val="tx1"/>
                        </a:solidFill>
                        <a:latin typeface="Helvetica" pitchFamily="2" charset="0"/>
                        <a:ea typeface="Verdana" panose="020B0604030504040204" pitchFamily="34" charset="0"/>
                        <a:cs typeface="+mn-cs"/>
                      </a:endParaRPr>
                    </a:p>
                    <a:p>
                      <a:pPr marL="285750" indent="-285750">
                        <a:buFont typeface="Arial" panose="020B0604020202020204" pitchFamily="34" charset="0"/>
                        <a:buChar char="•"/>
                      </a:pPr>
                      <a:r>
                        <a:rPr lang="en-IN" sz="1600" b="0" kern="1200" dirty="0">
                          <a:solidFill>
                            <a:schemeClr val="tx1"/>
                          </a:solidFill>
                          <a:latin typeface="Helvetica" pitchFamily="2" charset="0"/>
                          <a:ea typeface="Verdana" panose="020B0604030504040204" pitchFamily="34" charset="0"/>
                          <a:cs typeface="+mn-cs"/>
                        </a:rPr>
                        <a:t>In the age group 31-50, there is an anomaly considering the Active and Inactive customers. Here, the trend reverses, and there is 10% more churn in Active members</a:t>
                      </a:r>
                      <a:br>
                        <a:rPr lang="en-IN" sz="1600" b="0" kern="1200" dirty="0">
                          <a:solidFill>
                            <a:schemeClr val="tx1"/>
                          </a:solidFill>
                          <a:latin typeface="Helvetica" pitchFamily="2" charset="0"/>
                          <a:ea typeface="Verdana" panose="020B0604030504040204" pitchFamily="34" charset="0"/>
                          <a:cs typeface="+mn-cs"/>
                        </a:rPr>
                      </a:br>
                      <a:endParaRPr lang="en-IN" sz="1600" b="0" kern="1200" dirty="0">
                        <a:solidFill>
                          <a:schemeClr val="tx1"/>
                        </a:solidFill>
                        <a:latin typeface="Helvetica" pitchFamily="2" charset="0"/>
                        <a:ea typeface="Verdana" panose="020B0604030504040204" pitchFamily="34" charset="0"/>
                        <a:cs typeface="+mn-cs"/>
                      </a:endParaRPr>
                    </a:p>
                    <a:p>
                      <a:pPr marL="285750" indent="-285750">
                        <a:buFont typeface="Arial" panose="020B0604020202020204" pitchFamily="34" charset="0"/>
                        <a:buChar char="•"/>
                      </a:pPr>
                      <a:r>
                        <a:rPr lang="en-IN" sz="1600" b="0" kern="1200" dirty="0">
                          <a:solidFill>
                            <a:schemeClr val="tx1"/>
                          </a:solidFill>
                          <a:latin typeface="Helvetica" pitchFamily="2" charset="0"/>
                          <a:ea typeface="Verdana" panose="020B0604030504040204" pitchFamily="34" charset="0"/>
                          <a:cs typeface="+mn-cs"/>
                        </a:rPr>
                        <a:t>In the age group 50+, there exists the highest churn rate, and even customers with Excellent and Very Good credit ratings have churned</a:t>
                      </a:r>
                    </a:p>
                  </a:txBody>
                  <a:tcPr/>
                </a:tc>
                <a:extLst>
                  <a:ext uri="{0D108BD9-81ED-4DB2-BD59-A6C34878D82A}">
                    <a16:rowId xmlns:a16="http://schemas.microsoft.com/office/drawing/2014/main" val="2267822871"/>
                  </a:ext>
                </a:extLst>
              </a:tr>
            </a:tbl>
          </a:graphicData>
        </a:graphic>
      </p:graphicFrame>
    </p:spTree>
    <p:extLst>
      <p:ext uri="{BB962C8B-B14F-4D97-AF65-F5344CB8AC3E}">
        <p14:creationId xmlns:p14="http://schemas.microsoft.com/office/powerpoint/2010/main" val="5358351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95A4A-072B-CAC8-9C34-DD5F5953EB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5B4ABC6-F452-D200-004E-6BADD9A7A1F4}"/>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Demographical Analysis</a:t>
            </a:r>
            <a:endParaRPr lang="en-IN" sz="3200" b="1" dirty="0">
              <a:solidFill>
                <a:schemeClr val="bg1"/>
              </a:solidFill>
            </a:endParaRPr>
          </a:p>
        </p:txBody>
      </p:sp>
      <p:sp>
        <p:nvSpPr>
          <p:cNvPr id="6" name="TextBox 5">
            <a:extLst>
              <a:ext uri="{FF2B5EF4-FFF2-40B4-BE49-F238E27FC236}">
                <a16:creationId xmlns:a16="http://schemas.microsoft.com/office/drawing/2014/main" id="{EB07882F-877D-45F6-12F0-7ECA3798ABFE}"/>
              </a:ext>
            </a:extLst>
          </p:cNvPr>
          <p:cNvSpPr txBox="1"/>
          <p:nvPr/>
        </p:nvSpPr>
        <p:spPr>
          <a:xfrm>
            <a:off x="1037517" y="4952643"/>
            <a:ext cx="10116962" cy="646331"/>
          </a:xfrm>
          <a:prstGeom prst="rect">
            <a:avLst/>
          </a:prstGeom>
          <a:noFill/>
          <a:ln w="19050">
            <a:solidFill>
              <a:schemeClr val="accent1">
                <a:lumMod val="75000"/>
              </a:schemeClr>
            </a:solidFill>
            <a:prstDash val="dash"/>
          </a:ln>
        </p:spPr>
        <p:txBody>
          <a:bodyPr wrap="square">
            <a:spAutoFit/>
          </a:bodyPr>
          <a:lstStyle/>
          <a:p>
            <a:pPr algn="ctr"/>
            <a:r>
              <a:rPr lang="en-IN" b="1" dirty="0"/>
              <a:t>More than 50% </a:t>
            </a:r>
            <a:r>
              <a:rPr lang="en-IN" dirty="0"/>
              <a:t>of customers reside in </a:t>
            </a:r>
            <a:r>
              <a:rPr lang="en-IN" b="1" dirty="0"/>
              <a:t>France</a:t>
            </a:r>
            <a:r>
              <a:rPr lang="en-IN" dirty="0"/>
              <a:t>. </a:t>
            </a:r>
            <a:r>
              <a:rPr lang="en-IN" b="1" dirty="0"/>
              <a:t>Spain</a:t>
            </a:r>
            <a:r>
              <a:rPr lang="en-IN" dirty="0"/>
              <a:t> has the </a:t>
            </a:r>
            <a:r>
              <a:rPr lang="en-IN" b="1" dirty="0"/>
              <a:t>highest % of active customers </a:t>
            </a:r>
            <a:r>
              <a:rPr lang="en-IN" dirty="0"/>
              <a:t>at 52.97%. </a:t>
            </a:r>
            <a:r>
              <a:rPr lang="en-IN" b="1" dirty="0"/>
              <a:t>Germany</a:t>
            </a:r>
            <a:r>
              <a:rPr lang="en-IN" dirty="0"/>
              <a:t> has the </a:t>
            </a:r>
            <a:r>
              <a:rPr lang="en-IN" b="1" dirty="0"/>
              <a:t>highest churn rate</a:t>
            </a:r>
            <a:r>
              <a:rPr lang="en-IN" dirty="0"/>
              <a:t> at 32.44% with </a:t>
            </a:r>
            <a:r>
              <a:rPr lang="en-IN" b="1" dirty="0"/>
              <a:t>the lowest % of active customers </a:t>
            </a:r>
            <a:r>
              <a:rPr lang="en-IN" dirty="0"/>
              <a:t>at 49.74%.  </a:t>
            </a:r>
          </a:p>
        </p:txBody>
      </p:sp>
      <p:pic>
        <p:nvPicPr>
          <p:cNvPr id="5" name="Picture 4">
            <a:extLst>
              <a:ext uri="{FF2B5EF4-FFF2-40B4-BE49-F238E27FC236}">
                <a16:creationId xmlns:a16="http://schemas.microsoft.com/office/drawing/2014/main" id="{BF007880-578A-6A70-D9DF-209B76707FA8}"/>
              </a:ext>
            </a:extLst>
          </p:cNvPr>
          <p:cNvPicPr>
            <a:picLocks noChangeAspect="1"/>
          </p:cNvPicPr>
          <p:nvPr/>
        </p:nvPicPr>
        <p:blipFill>
          <a:blip r:embed="rId2"/>
          <a:stretch>
            <a:fillRect/>
          </a:stretch>
        </p:blipFill>
        <p:spPr>
          <a:xfrm>
            <a:off x="1037519" y="2055222"/>
            <a:ext cx="10116962" cy="1791545"/>
          </a:xfrm>
          <a:prstGeom prst="rect">
            <a:avLst/>
          </a:prstGeom>
        </p:spPr>
      </p:pic>
    </p:spTree>
    <p:extLst>
      <p:ext uri="{BB962C8B-B14F-4D97-AF65-F5344CB8AC3E}">
        <p14:creationId xmlns:p14="http://schemas.microsoft.com/office/powerpoint/2010/main" val="2856863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A055A-F628-AE3C-4F89-BB25BE15A8C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A454DD9-CCA4-C698-561D-43D9B38F81AF}"/>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Demographical Analysis</a:t>
            </a:r>
            <a:endParaRPr lang="en-IN" sz="3200" b="1" dirty="0">
              <a:solidFill>
                <a:schemeClr val="bg1"/>
              </a:solidFill>
            </a:endParaRPr>
          </a:p>
        </p:txBody>
      </p:sp>
      <p:sp>
        <p:nvSpPr>
          <p:cNvPr id="6" name="TextBox 5">
            <a:extLst>
              <a:ext uri="{FF2B5EF4-FFF2-40B4-BE49-F238E27FC236}">
                <a16:creationId xmlns:a16="http://schemas.microsoft.com/office/drawing/2014/main" id="{BCFD4B6C-C63E-848D-3E46-0CD9203DA3F4}"/>
              </a:ext>
            </a:extLst>
          </p:cNvPr>
          <p:cNvSpPr txBox="1"/>
          <p:nvPr/>
        </p:nvSpPr>
        <p:spPr>
          <a:xfrm>
            <a:off x="1037519" y="5221707"/>
            <a:ext cx="10116962" cy="923330"/>
          </a:xfrm>
          <a:prstGeom prst="rect">
            <a:avLst/>
          </a:prstGeom>
          <a:noFill/>
          <a:ln w="19050">
            <a:solidFill>
              <a:schemeClr val="accent1">
                <a:lumMod val="75000"/>
              </a:schemeClr>
            </a:solidFill>
            <a:prstDash val="dash"/>
          </a:ln>
        </p:spPr>
        <p:txBody>
          <a:bodyPr wrap="square">
            <a:spAutoFit/>
          </a:bodyPr>
          <a:lstStyle/>
          <a:p>
            <a:pPr algn="ctr"/>
            <a:r>
              <a:rPr lang="en-IN" b="1" dirty="0"/>
              <a:t>Higher income groups</a:t>
            </a:r>
            <a:r>
              <a:rPr lang="en-IN" dirty="0"/>
              <a:t> have a </a:t>
            </a:r>
            <a:r>
              <a:rPr lang="en-IN" b="1" dirty="0"/>
              <a:t>higher churn rate </a:t>
            </a:r>
            <a:r>
              <a:rPr lang="en-IN" dirty="0"/>
              <a:t>compared to lower income groups. There exists a </a:t>
            </a:r>
            <a:r>
              <a:rPr lang="en-IN" b="1" dirty="0"/>
              <a:t>declining churn rate trend </a:t>
            </a:r>
            <a:r>
              <a:rPr lang="en-IN" dirty="0"/>
              <a:t>as we move down to the </a:t>
            </a:r>
            <a:r>
              <a:rPr lang="en-IN" b="1" dirty="0"/>
              <a:t>lower income group</a:t>
            </a:r>
            <a:r>
              <a:rPr lang="en-IN" dirty="0"/>
              <a:t>, except one income group, </a:t>
            </a:r>
            <a:r>
              <a:rPr lang="en-IN" b="1" dirty="0"/>
              <a:t>50K-70K</a:t>
            </a:r>
            <a:r>
              <a:rPr lang="en-IN" dirty="0"/>
              <a:t>, which has </a:t>
            </a:r>
            <a:r>
              <a:rPr lang="en-IN" b="1" dirty="0"/>
              <a:t>high churn and the highest active customer</a:t>
            </a:r>
            <a:r>
              <a:rPr lang="en-IN" dirty="0"/>
              <a:t>.   </a:t>
            </a:r>
          </a:p>
        </p:txBody>
      </p:sp>
      <p:pic>
        <p:nvPicPr>
          <p:cNvPr id="4" name="Picture 3">
            <a:extLst>
              <a:ext uri="{FF2B5EF4-FFF2-40B4-BE49-F238E27FC236}">
                <a16:creationId xmlns:a16="http://schemas.microsoft.com/office/drawing/2014/main" id="{B6E51E36-B7FF-AA69-5AD0-B0F2E442683A}"/>
              </a:ext>
            </a:extLst>
          </p:cNvPr>
          <p:cNvPicPr>
            <a:picLocks noChangeAspect="1"/>
          </p:cNvPicPr>
          <p:nvPr/>
        </p:nvPicPr>
        <p:blipFill>
          <a:blip r:embed="rId2"/>
          <a:stretch>
            <a:fillRect/>
          </a:stretch>
        </p:blipFill>
        <p:spPr>
          <a:xfrm>
            <a:off x="4050315" y="1050369"/>
            <a:ext cx="4091370" cy="3973576"/>
          </a:xfrm>
          <a:prstGeom prst="rect">
            <a:avLst/>
          </a:prstGeom>
        </p:spPr>
      </p:pic>
    </p:spTree>
    <p:extLst>
      <p:ext uri="{BB962C8B-B14F-4D97-AF65-F5344CB8AC3E}">
        <p14:creationId xmlns:p14="http://schemas.microsoft.com/office/powerpoint/2010/main" val="12659357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2A727-4CB9-A0FE-0E65-6E53D6122A8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627F4B6-2CE0-45E2-E1B3-0B97C8635996}"/>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Demographical Analysis</a:t>
            </a:r>
            <a:endParaRPr lang="en-IN" sz="3200" b="1" dirty="0">
              <a:solidFill>
                <a:schemeClr val="bg1"/>
              </a:solidFill>
            </a:endParaRPr>
          </a:p>
        </p:txBody>
      </p:sp>
      <p:sp>
        <p:nvSpPr>
          <p:cNvPr id="6" name="TextBox 5">
            <a:extLst>
              <a:ext uri="{FF2B5EF4-FFF2-40B4-BE49-F238E27FC236}">
                <a16:creationId xmlns:a16="http://schemas.microsoft.com/office/drawing/2014/main" id="{3E9D022F-4464-0F1F-D02F-2F11A982111F}"/>
              </a:ext>
            </a:extLst>
          </p:cNvPr>
          <p:cNvSpPr txBox="1"/>
          <p:nvPr/>
        </p:nvSpPr>
        <p:spPr>
          <a:xfrm>
            <a:off x="1037518" y="5502912"/>
            <a:ext cx="10116962" cy="646331"/>
          </a:xfrm>
          <a:prstGeom prst="rect">
            <a:avLst/>
          </a:prstGeom>
          <a:noFill/>
          <a:ln w="19050">
            <a:solidFill>
              <a:schemeClr val="accent1">
                <a:lumMod val="75000"/>
              </a:schemeClr>
            </a:solidFill>
            <a:prstDash val="dash"/>
          </a:ln>
        </p:spPr>
        <p:txBody>
          <a:bodyPr wrap="square">
            <a:spAutoFit/>
          </a:bodyPr>
          <a:lstStyle/>
          <a:p>
            <a:pPr algn="ctr"/>
            <a:r>
              <a:rPr lang="en-IN" dirty="0"/>
              <a:t>Age group </a:t>
            </a:r>
            <a:r>
              <a:rPr lang="en-IN" b="1" dirty="0"/>
              <a:t>50+ has the highest churn rate </a:t>
            </a:r>
            <a:r>
              <a:rPr lang="en-IN" dirty="0"/>
              <a:t>as well as </a:t>
            </a:r>
            <a:r>
              <a:rPr lang="en-IN" b="1" dirty="0"/>
              <a:t>the highest active customers</a:t>
            </a:r>
            <a:r>
              <a:rPr lang="en-IN" dirty="0"/>
              <a:t>. Age group </a:t>
            </a:r>
            <a:r>
              <a:rPr lang="en-IN" b="1" dirty="0"/>
              <a:t>18-30 </a:t>
            </a:r>
            <a:r>
              <a:rPr lang="en-IN" dirty="0"/>
              <a:t>has the </a:t>
            </a:r>
            <a:r>
              <a:rPr lang="en-IN" b="1" dirty="0"/>
              <a:t>lowest churn rate</a:t>
            </a:r>
            <a:r>
              <a:rPr lang="en-IN" dirty="0"/>
              <a:t>. While age group </a:t>
            </a:r>
            <a:r>
              <a:rPr lang="en-IN" b="1" dirty="0"/>
              <a:t>31-50 holds </a:t>
            </a:r>
            <a:r>
              <a:rPr lang="en-IN" dirty="0"/>
              <a:t>about </a:t>
            </a:r>
            <a:r>
              <a:rPr lang="en-IN" b="1" dirty="0"/>
              <a:t>68% of total customers</a:t>
            </a:r>
            <a:r>
              <a:rPr lang="en-IN" dirty="0"/>
              <a:t>.</a:t>
            </a:r>
          </a:p>
        </p:txBody>
      </p:sp>
      <p:pic>
        <p:nvPicPr>
          <p:cNvPr id="5" name="Picture 4">
            <a:extLst>
              <a:ext uri="{FF2B5EF4-FFF2-40B4-BE49-F238E27FC236}">
                <a16:creationId xmlns:a16="http://schemas.microsoft.com/office/drawing/2014/main" id="{2725FDA6-742B-168D-6E63-4E54C61BB9C6}"/>
              </a:ext>
            </a:extLst>
          </p:cNvPr>
          <p:cNvPicPr>
            <a:picLocks noChangeAspect="1"/>
          </p:cNvPicPr>
          <p:nvPr/>
        </p:nvPicPr>
        <p:blipFill>
          <a:blip r:embed="rId2"/>
          <a:stretch>
            <a:fillRect/>
          </a:stretch>
        </p:blipFill>
        <p:spPr>
          <a:xfrm>
            <a:off x="4598056" y="1031922"/>
            <a:ext cx="2995888" cy="4258200"/>
          </a:xfrm>
          <a:prstGeom prst="rect">
            <a:avLst/>
          </a:prstGeom>
        </p:spPr>
      </p:pic>
    </p:spTree>
    <p:extLst>
      <p:ext uri="{BB962C8B-B14F-4D97-AF65-F5344CB8AC3E}">
        <p14:creationId xmlns:p14="http://schemas.microsoft.com/office/powerpoint/2010/main" val="38430511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82149-0265-6EB5-E0AC-4393B1198F1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4C181AC-6DCD-BE1D-DEAE-978BB1077880}"/>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Demographical Analysis</a:t>
            </a:r>
            <a:endParaRPr lang="en-IN" sz="3200" b="1" dirty="0">
              <a:solidFill>
                <a:schemeClr val="bg1"/>
              </a:solidFill>
            </a:endParaRPr>
          </a:p>
        </p:txBody>
      </p:sp>
      <p:sp>
        <p:nvSpPr>
          <p:cNvPr id="6" name="TextBox 5">
            <a:extLst>
              <a:ext uri="{FF2B5EF4-FFF2-40B4-BE49-F238E27FC236}">
                <a16:creationId xmlns:a16="http://schemas.microsoft.com/office/drawing/2014/main" id="{1B9BDFE9-6355-5A7A-A86B-56BC5CD8D669}"/>
              </a:ext>
            </a:extLst>
          </p:cNvPr>
          <p:cNvSpPr txBox="1"/>
          <p:nvPr/>
        </p:nvSpPr>
        <p:spPr>
          <a:xfrm>
            <a:off x="1037518" y="5335455"/>
            <a:ext cx="10116962" cy="923330"/>
          </a:xfrm>
          <a:prstGeom prst="rect">
            <a:avLst/>
          </a:prstGeom>
          <a:noFill/>
          <a:ln w="19050">
            <a:solidFill>
              <a:schemeClr val="accent1">
                <a:lumMod val="75000"/>
              </a:schemeClr>
            </a:solidFill>
            <a:prstDash val="dash"/>
          </a:ln>
        </p:spPr>
        <p:txBody>
          <a:bodyPr wrap="square">
            <a:spAutoFit/>
          </a:bodyPr>
          <a:lstStyle/>
          <a:p>
            <a:pPr algn="ctr"/>
            <a:r>
              <a:rPr lang="en-IN" dirty="0"/>
              <a:t>There are </a:t>
            </a:r>
            <a:r>
              <a:rPr lang="en-IN" b="1" dirty="0"/>
              <a:t>approximately. 10% more Male customers </a:t>
            </a:r>
            <a:r>
              <a:rPr lang="en-IN" dirty="0"/>
              <a:t>as compared </a:t>
            </a:r>
            <a:r>
              <a:rPr lang="en-IN" b="1" dirty="0"/>
              <a:t>to Female customers</a:t>
            </a:r>
            <a:r>
              <a:rPr lang="en-IN" dirty="0"/>
              <a:t>. But </a:t>
            </a:r>
            <a:r>
              <a:rPr lang="en-IN" b="1" dirty="0"/>
              <a:t>churn rate is higher in Female</a:t>
            </a:r>
            <a:r>
              <a:rPr lang="en-IN" dirty="0"/>
              <a:t> customers as compared to Male customers </a:t>
            </a:r>
            <a:r>
              <a:rPr lang="en-IN" b="1" dirty="0"/>
              <a:t>by 10%. Females</a:t>
            </a:r>
            <a:r>
              <a:rPr lang="en-IN" dirty="0"/>
              <a:t> have a </a:t>
            </a:r>
            <a:r>
              <a:rPr lang="en-IN" b="1" dirty="0"/>
              <a:t>higher average income</a:t>
            </a:r>
            <a:r>
              <a:rPr lang="en-IN" dirty="0"/>
              <a:t> in comparison to Males.</a:t>
            </a:r>
            <a:endParaRPr lang="en-IN" b="1" dirty="0"/>
          </a:p>
        </p:txBody>
      </p:sp>
      <p:pic>
        <p:nvPicPr>
          <p:cNvPr id="4" name="Picture 3">
            <a:extLst>
              <a:ext uri="{FF2B5EF4-FFF2-40B4-BE49-F238E27FC236}">
                <a16:creationId xmlns:a16="http://schemas.microsoft.com/office/drawing/2014/main" id="{F8FF3209-2488-D4D8-AD6E-30EC6657F3D0}"/>
              </a:ext>
            </a:extLst>
          </p:cNvPr>
          <p:cNvPicPr>
            <a:picLocks noChangeAspect="1"/>
          </p:cNvPicPr>
          <p:nvPr/>
        </p:nvPicPr>
        <p:blipFill>
          <a:blip r:embed="rId2"/>
          <a:stretch>
            <a:fillRect/>
          </a:stretch>
        </p:blipFill>
        <p:spPr>
          <a:xfrm>
            <a:off x="4419528" y="1050370"/>
            <a:ext cx="3352943" cy="4029903"/>
          </a:xfrm>
          <a:prstGeom prst="rect">
            <a:avLst/>
          </a:prstGeom>
        </p:spPr>
      </p:pic>
    </p:spTree>
    <p:extLst>
      <p:ext uri="{BB962C8B-B14F-4D97-AF65-F5344CB8AC3E}">
        <p14:creationId xmlns:p14="http://schemas.microsoft.com/office/powerpoint/2010/main" val="3328521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DCA6F-95C2-ACD7-B974-08BA38B8275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05B8560-8260-B224-6D03-AE42948BA674}"/>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Lifetime Value Analysis</a:t>
            </a:r>
            <a:endParaRPr lang="en-IN" sz="3200" b="1" dirty="0">
              <a:solidFill>
                <a:schemeClr val="bg1"/>
              </a:solidFill>
            </a:endParaRPr>
          </a:p>
        </p:txBody>
      </p:sp>
      <p:sp>
        <p:nvSpPr>
          <p:cNvPr id="6" name="TextBox 5">
            <a:extLst>
              <a:ext uri="{FF2B5EF4-FFF2-40B4-BE49-F238E27FC236}">
                <a16:creationId xmlns:a16="http://schemas.microsoft.com/office/drawing/2014/main" id="{90B193B0-3480-8D60-679A-219A5E072E01}"/>
              </a:ext>
            </a:extLst>
          </p:cNvPr>
          <p:cNvSpPr txBox="1"/>
          <p:nvPr/>
        </p:nvSpPr>
        <p:spPr>
          <a:xfrm>
            <a:off x="1037517" y="4978183"/>
            <a:ext cx="10116962" cy="1200329"/>
          </a:xfrm>
          <a:prstGeom prst="rect">
            <a:avLst/>
          </a:prstGeom>
          <a:noFill/>
          <a:ln w="19050">
            <a:solidFill>
              <a:schemeClr val="accent1">
                <a:lumMod val="75000"/>
              </a:schemeClr>
            </a:solidFill>
            <a:prstDash val="dash"/>
          </a:ln>
        </p:spPr>
        <p:txBody>
          <a:bodyPr wrap="square">
            <a:spAutoFit/>
          </a:bodyPr>
          <a:lstStyle/>
          <a:p>
            <a:pPr algn="ctr"/>
            <a:r>
              <a:rPr lang="en-IN" dirty="0"/>
              <a:t>There is a </a:t>
            </a:r>
            <a:r>
              <a:rPr lang="en-IN" b="1" dirty="0"/>
              <a:t>growing trend of customers </a:t>
            </a:r>
            <a:r>
              <a:rPr lang="en-IN" dirty="0"/>
              <a:t>joining. From the </a:t>
            </a:r>
            <a:r>
              <a:rPr lang="en-IN" b="1" dirty="0"/>
              <a:t>middle of Quarter 3 to the end of Quarter 4</a:t>
            </a:r>
            <a:r>
              <a:rPr lang="en-IN" dirty="0"/>
              <a:t>, there is a </a:t>
            </a:r>
            <a:r>
              <a:rPr lang="en-IN" b="1" dirty="0"/>
              <a:t>steep increase </a:t>
            </a:r>
            <a:r>
              <a:rPr lang="en-IN" dirty="0"/>
              <a:t>in the number of </a:t>
            </a:r>
            <a:r>
              <a:rPr lang="en-IN" b="1" dirty="0"/>
              <a:t>customers joining</a:t>
            </a:r>
            <a:r>
              <a:rPr lang="en-IN" dirty="0"/>
              <a:t>. </a:t>
            </a:r>
            <a:r>
              <a:rPr lang="en-IN" b="1" dirty="0"/>
              <a:t>2017</a:t>
            </a:r>
            <a:r>
              <a:rPr lang="en-IN" dirty="0"/>
              <a:t> is the year that witnessed a </a:t>
            </a:r>
            <a:r>
              <a:rPr lang="en-IN" b="1" dirty="0"/>
              <a:t>large number of churned people </a:t>
            </a:r>
            <a:r>
              <a:rPr lang="en-IN" dirty="0"/>
              <a:t>in starting as well as end of year. There is a </a:t>
            </a:r>
            <a:r>
              <a:rPr lang="en-IN" b="1" dirty="0"/>
              <a:t>high churn </a:t>
            </a:r>
            <a:r>
              <a:rPr lang="en-IN" dirty="0"/>
              <a:t>in the month of </a:t>
            </a:r>
            <a:r>
              <a:rPr lang="en-IN" b="1" dirty="0"/>
              <a:t>January</a:t>
            </a:r>
            <a:r>
              <a:rPr lang="en-IN" dirty="0"/>
              <a:t> across all years. Highlighted yellow bars indicate churn greater than the average churn of 20.37% </a:t>
            </a:r>
            <a:endParaRPr lang="en-IN" b="1" dirty="0"/>
          </a:p>
        </p:txBody>
      </p:sp>
      <p:pic>
        <p:nvPicPr>
          <p:cNvPr id="5" name="Picture 4">
            <a:extLst>
              <a:ext uri="{FF2B5EF4-FFF2-40B4-BE49-F238E27FC236}">
                <a16:creationId xmlns:a16="http://schemas.microsoft.com/office/drawing/2014/main" id="{33D99D73-231A-4554-3822-828C12A0EB92}"/>
              </a:ext>
            </a:extLst>
          </p:cNvPr>
          <p:cNvPicPr>
            <a:picLocks noChangeAspect="1"/>
          </p:cNvPicPr>
          <p:nvPr/>
        </p:nvPicPr>
        <p:blipFill>
          <a:blip r:embed="rId2"/>
          <a:stretch>
            <a:fillRect/>
          </a:stretch>
        </p:blipFill>
        <p:spPr>
          <a:xfrm>
            <a:off x="642175" y="1380179"/>
            <a:ext cx="10907647" cy="3400900"/>
          </a:xfrm>
          <a:prstGeom prst="rect">
            <a:avLst/>
          </a:prstGeom>
        </p:spPr>
      </p:pic>
    </p:spTree>
    <p:extLst>
      <p:ext uri="{BB962C8B-B14F-4D97-AF65-F5344CB8AC3E}">
        <p14:creationId xmlns:p14="http://schemas.microsoft.com/office/powerpoint/2010/main" val="9407844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9DDB7-0DE2-255E-CC71-1EBD873AEA8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E3638B9-0D0A-9D3C-16AE-C701CBC3BB4F}"/>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Lifetime Value Analysis</a:t>
            </a:r>
            <a:endParaRPr lang="en-IN" sz="3200" b="1" dirty="0">
              <a:solidFill>
                <a:schemeClr val="bg1"/>
              </a:solidFill>
            </a:endParaRPr>
          </a:p>
        </p:txBody>
      </p:sp>
      <p:sp>
        <p:nvSpPr>
          <p:cNvPr id="6" name="TextBox 5">
            <a:extLst>
              <a:ext uri="{FF2B5EF4-FFF2-40B4-BE49-F238E27FC236}">
                <a16:creationId xmlns:a16="http://schemas.microsoft.com/office/drawing/2014/main" id="{30196979-364E-34A8-2E9D-4E9E28472CF8}"/>
              </a:ext>
            </a:extLst>
          </p:cNvPr>
          <p:cNvSpPr txBox="1"/>
          <p:nvPr/>
        </p:nvSpPr>
        <p:spPr>
          <a:xfrm>
            <a:off x="1037517" y="4978183"/>
            <a:ext cx="10116962" cy="923330"/>
          </a:xfrm>
          <a:prstGeom prst="rect">
            <a:avLst/>
          </a:prstGeom>
          <a:noFill/>
          <a:ln w="19050">
            <a:solidFill>
              <a:schemeClr val="accent1">
                <a:lumMod val="75000"/>
              </a:schemeClr>
            </a:solidFill>
            <a:prstDash val="dash"/>
          </a:ln>
        </p:spPr>
        <p:txBody>
          <a:bodyPr wrap="square">
            <a:spAutoFit/>
          </a:bodyPr>
          <a:lstStyle/>
          <a:p>
            <a:pPr algn="ctr"/>
            <a:r>
              <a:rPr lang="en-IN" dirty="0"/>
              <a:t>The following are the comparisons of major factors against the average churn rate. Customers having </a:t>
            </a:r>
            <a:r>
              <a:rPr lang="en-IN" b="1" dirty="0"/>
              <a:t>2 products</a:t>
            </a:r>
            <a:r>
              <a:rPr lang="en-IN" dirty="0"/>
              <a:t> have the </a:t>
            </a:r>
            <a:r>
              <a:rPr lang="en-IN" b="1" dirty="0"/>
              <a:t>lowest churn rate</a:t>
            </a:r>
            <a:r>
              <a:rPr lang="en-IN" dirty="0"/>
              <a:t>. Age </a:t>
            </a:r>
            <a:r>
              <a:rPr lang="en-IN" b="1" dirty="0"/>
              <a:t>group 18-30 </a:t>
            </a:r>
            <a:r>
              <a:rPr lang="en-IN" dirty="0"/>
              <a:t>has the </a:t>
            </a:r>
            <a:r>
              <a:rPr lang="en-IN" b="1" dirty="0"/>
              <a:t>lowest churn rate</a:t>
            </a:r>
            <a:r>
              <a:rPr lang="en-IN" dirty="0"/>
              <a:t>, and Income groups </a:t>
            </a:r>
            <a:r>
              <a:rPr lang="en-IN" b="1" dirty="0"/>
              <a:t>&gt;150K and 50K-75K </a:t>
            </a:r>
            <a:r>
              <a:rPr lang="en-IN" dirty="0"/>
              <a:t>have a slightly </a:t>
            </a:r>
            <a:r>
              <a:rPr lang="en-IN" b="1" dirty="0"/>
              <a:t>higher churn rate</a:t>
            </a:r>
            <a:r>
              <a:rPr lang="en-IN" dirty="0"/>
              <a:t>.</a:t>
            </a:r>
            <a:endParaRPr lang="en-IN" b="1" dirty="0"/>
          </a:p>
        </p:txBody>
      </p:sp>
      <p:pic>
        <p:nvPicPr>
          <p:cNvPr id="4" name="Picture 3">
            <a:extLst>
              <a:ext uri="{FF2B5EF4-FFF2-40B4-BE49-F238E27FC236}">
                <a16:creationId xmlns:a16="http://schemas.microsoft.com/office/drawing/2014/main" id="{244951D6-E84F-D62A-67D3-D5F26F01E49A}"/>
              </a:ext>
            </a:extLst>
          </p:cNvPr>
          <p:cNvPicPr>
            <a:picLocks noChangeAspect="1"/>
          </p:cNvPicPr>
          <p:nvPr/>
        </p:nvPicPr>
        <p:blipFill>
          <a:blip r:embed="rId2"/>
          <a:stretch>
            <a:fillRect/>
          </a:stretch>
        </p:blipFill>
        <p:spPr>
          <a:xfrm>
            <a:off x="471462" y="1480230"/>
            <a:ext cx="11249076" cy="2703939"/>
          </a:xfrm>
          <a:prstGeom prst="rect">
            <a:avLst/>
          </a:prstGeom>
        </p:spPr>
      </p:pic>
    </p:spTree>
    <p:extLst>
      <p:ext uri="{BB962C8B-B14F-4D97-AF65-F5344CB8AC3E}">
        <p14:creationId xmlns:p14="http://schemas.microsoft.com/office/powerpoint/2010/main" val="2592042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8B8A1-8A92-CE7D-DBC2-0A5B21BDB7D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A3C17C0-B921-EB27-38EA-A02DF7AC2D97}"/>
              </a:ext>
            </a:extLst>
          </p:cNvPr>
          <p:cNvSpPr txBox="1"/>
          <p:nvPr/>
        </p:nvSpPr>
        <p:spPr>
          <a:xfrm>
            <a:off x="2448911" y="2921169"/>
            <a:ext cx="7294179" cy="1015663"/>
          </a:xfrm>
          <a:prstGeom prst="rect">
            <a:avLst/>
          </a:prstGeom>
          <a:noFill/>
        </p:spPr>
        <p:txBody>
          <a:bodyPr wrap="square">
            <a:spAutoFit/>
          </a:bodyPr>
          <a:lstStyle/>
          <a:p>
            <a:pPr algn="ctr"/>
            <a:r>
              <a:rPr lang="en-IN" sz="6000" b="1" dirty="0">
                <a:solidFill>
                  <a:schemeClr val="accent2"/>
                </a:solidFill>
                <a:latin typeface="Helvetica" pitchFamily="2" charset="0"/>
                <a:ea typeface="Verdana" panose="020B0604030504040204" pitchFamily="34" charset="0"/>
              </a:rPr>
              <a:t>FINDING PHASE</a:t>
            </a:r>
            <a:endParaRPr lang="en-IN" sz="6000" b="1" dirty="0">
              <a:solidFill>
                <a:schemeClr val="accent2"/>
              </a:solidFill>
            </a:endParaRPr>
          </a:p>
        </p:txBody>
      </p:sp>
    </p:spTree>
    <p:extLst>
      <p:ext uri="{BB962C8B-B14F-4D97-AF65-F5344CB8AC3E}">
        <p14:creationId xmlns:p14="http://schemas.microsoft.com/office/powerpoint/2010/main" val="519418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84D5A-8F99-1296-CDEC-05069916FD4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80D988C-450C-AA66-79BB-5DC42DDEEF11}"/>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Drivers of Churn Rate</a:t>
            </a:r>
            <a:endParaRPr lang="en-IN" sz="3200" b="1" dirty="0">
              <a:solidFill>
                <a:schemeClr val="bg1"/>
              </a:solidFill>
            </a:endParaRPr>
          </a:p>
        </p:txBody>
      </p:sp>
      <p:graphicFrame>
        <p:nvGraphicFramePr>
          <p:cNvPr id="6" name="Diagram 5">
            <a:extLst>
              <a:ext uri="{FF2B5EF4-FFF2-40B4-BE49-F238E27FC236}">
                <a16:creationId xmlns:a16="http://schemas.microsoft.com/office/drawing/2014/main" id="{EA724E85-EB9C-650D-66F3-D8C3E51E61C8}"/>
              </a:ext>
            </a:extLst>
          </p:cNvPr>
          <p:cNvGraphicFramePr/>
          <p:nvPr>
            <p:extLst>
              <p:ext uri="{D42A27DB-BD31-4B8C-83A1-F6EECF244321}">
                <p14:modId xmlns:p14="http://schemas.microsoft.com/office/powerpoint/2010/main" val="3466192678"/>
              </p:ext>
            </p:extLst>
          </p:nvPr>
        </p:nvGraphicFramePr>
        <p:xfrm>
          <a:off x="162911" y="1008992"/>
          <a:ext cx="11866178" cy="52446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96130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3C78E-DD91-A53F-E42F-5D7E1246815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B0733D4-0DBE-0B4D-48A5-FB29558519F4}"/>
              </a:ext>
            </a:extLst>
          </p:cNvPr>
          <p:cNvSpPr txBox="1"/>
          <p:nvPr/>
        </p:nvSpPr>
        <p:spPr>
          <a:xfrm>
            <a:off x="3048000" y="73572"/>
            <a:ext cx="6096000" cy="584775"/>
          </a:xfrm>
          <a:prstGeom prst="rect">
            <a:avLst/>
          </a:prstGeom>
          <a:noFill/>
        </p:spPr>
        <p:txBody>
          <a:bodyPr wrap="square">
            <a:spAutoFit/>
          </a:bodyPr>
          <a:lstStyle/>
          <a:p>
            <a:pPr algn="ctr"/>
            <a:r>
              <a:rPr lang="en-IN" sz="3200" b="1" dirty="0">
                <a:solidFill>
                  <a:schemeClr val="bg1"/>
                </a:solidFill>
                <a:latin typeface="Helvetica" pitchFamily="2" charset="0"/>
                <a:ea typeface="Verdana" panose="020B0604030504040204" pitchFamily="34" charset="0"/>
              </a:rPr>
              <a:t>Strategic Suggestions</a:t>
            </a:r>
            <a:endParaRPr lang="en-IN" sz="3200" b="1" dirty="0">
              <a:solidFill>
                <a:schemeClr val="bg1"/>
              </a:solidFill>
            </a:endParaRPr>
          </a:p>
        </p:txBody>
      </p:sp>
      <p:pic>
        <p:nvPicPr>
          <p:cNvPr id="5" name="Picture 4">
            <a:extLst>
              <a:ext uri="{FF2B5EF4-FFF2-40B4-BE49-F238E27FC236}">
                <a16:creationId xmlns:a16="http://schemas.microsoft.com/office/drawing/2014/main" id="{041E525F-68E7-C45D-9647-5F9FA38842B8}"/>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35302" y="5380911"/>
            <a:ext cx="810000" cy="810000"/>
          </a:xfrm>
          <a:prstGeom prst="rect">
            <a:avLst/>
          </a:prstGeom>
        </p:spPr>
      </p:pic>
      <p:pic>
        <p:nvPicPr>
          <p:cNvPr id="7" name="Picture 6">
            <a:extLst>
              <a:ext uri="{FF2B5EF4-FFF2-40B4-BE49-F238E27FC236}">
                <a16:creationId xmlns:a16="http://schemas.microsoft.com/office/drawing/2014/main" id="{2FCEA8B9-3A75-55EF-EFE5-B5DE96FFF2DD}"/>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735302" y="1072089"/>
            <a:ext cx="810000" cy="810000"/>
          </a:xfrm>
          <a:prstGeom prst="rect">
            <a:avLst/>
          </a:prstGeom>
        </p:spPr>
      </p:pic>
      <p:pic>
        <p:nvPicPr>
          <p:cNvPr id="9" name="Picture 8">
            <a:extLst>
              <a:ext uri="{FF2B5EF4-FFF2-40B4-BE49-F238E27FC236}">
                <a16:creationId xmlns:a16="http://schemas.microsoft.com/office/drawing/2014/main" id="{DE600E02-F83C-AD9D-93AF-620EAD4DAA26}"/>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35302" y="4303707"/>
            <a:ext cx="810000" cy="810000"/>
          </a:xfrm>
          <a:prstGeom prst="rect">
            <a:avLst/>
          </a:prstGeom>
        </p:spPr>
      </p:pic>
      <p:pic>
        <p:nvPicPr>
          <p:cNvPr id="11" name="Picture 10">
            <a:extLst>
              <a:ext uri="{FF2B5EF4-FFF2-40B4-BE49-F238E27FC236}">
                <a16:creationId xmlns:a16="http://schemas.microsoft.com/office/drawing/2014/main" id="{3C79BD2B-1A8A-ED70-6E0F-2A7220B2C017}"/>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35302" y="2149295"/>
            <a:ext cx="810000" cy="810000"/>
          </a:xfrm>
          <a:prstGeom prst="rect">
            <a:avLst/>
          </a:prstGeom>
        </p:spPr>
      </p:pic>
      <p:pic>
        <p:nvPicPr>
          <p:cNvPr id="13" name="Picture 12">
            <a:extLst>
              <a:ext uri="{FF2B5EF4-FFF2-40B4-BE49-F238E27FC236}">
                <a16:creationId xmlns:a16="http://schemas.microsoft.com/office/drawing/2014/main" id="{9FB4005A-336C-1D97-F6CA-A9422A6BE082}"/>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735302" y="3226501"/>
            <a:ext cx="810000" cy="810000"/>
          </a:xfrm>
          <a:prstGeom prst="rect">
            <a:avLst/>
          </a:prstGeom>
        </p:spPr>
      </p:pic>
      <p:sp>
        <p:nvSpPr>
          <p:cNvPr id="14" name="TextBox 13">
            <a:extLst>
              <a:ext uri="{FF2B5EF4-FFF2-40B4-BE49-F238E27FC236}">
                <a16:creationId xmlns:a16="http://schemas.microsoft.com/office/drawing/2014/main" id="{C73877D9-9FE9-850D-5402-2295F5362B8A}"/>
              </a:ext>
            </a:extLst>
          </p:cNvPr>
          <p:cNvSpPr txBox="1"/>
          <p:nvPr/>
        </p:nvSpPr>
        <p:spPr>
          <a:xfrm>
            <a:off x="1681653" y="1077338"/>
            <a:ext cx="3373823" cy="810000"/>
          </a:xfrm>
          <a:prstGeom prst="rect">
            <a:avLst/>
          </a:prstGeom>
          <a:noFill/>
          <a:ln w="19050">
            <a:solidFill>
              <a:schemeClr val="accent1"/>
            </a:solidFill>
            <a:prstDash val="dash"/>
          </a:ln>
        </p:spPr>
        <p:txBody>
          <a:bodyPr wrap="square">
            <a:spAutoFit/>
          </a:bodyPr>
          <a:lstStyle/>
          <a:p>
            <a:endParaRPr lang="en-IN" sz="1400" dirty="0"/>
          </a:p>
        </p:txBody>
      </p:sp>
      <p:sp>
        <p:nvSpPr>
          <p:cNvPr id="20" name="TextBox 19">
            <a:extLst>
              <a:ext uri="{FF2B5EF4-FFF2-40B4-BE49-F238E27FC236}">
                <a16:creationId xmlns:a16="http://schemas.microsoft.com/office/drawing/2014/main" id="{96EE5830-B084-2D9F-2C6D-E6DF09DDACD1}"/>
              </a:ext>
            </a:extLst>
          </p:cNvPr>
          <p:cNvSpPr txBox="1"/>
          <p:nvPr/>
        </p:nvSpPr>
        <p:spPr>
          <a:xfrm>
            <a:off x="1870840" y="1187326"/>
            <a:ext cx="2995448" cy="584775"/>
          </a:xfrm>
          <a:prstGeom prst="rect">
            <a:avLst/>
          </a:prstGeom>
          <a:noFill/>
        </p:spPr>
        <p:txBody>
          <a:bodyPr wrap="square">
            <a:spAutoFit/>
          </a:bodyPr>
          <a:lstStyle/>
          <a:p>
            <a:pPr algn="ctr"/>
            <a:r>
              <a:rPr lang="en-IN" sz="1600" b="1" dirty="0">
                <a:solidFill>
                  <a:schemeClr val="accent1"/>
                </a:solidFill>
                <a:latin typeface="Helvetica" pitchFamily="2" charset="0"/>
              </a:rPr>
              <a:t>Handling the No. of Products parameter</a:t>
            </a:r>
            <a:endParaRPr lang="en-IN" sz="1600" b="1" dirty="0">
              <a:solidFill>
                <a:schemeClr val="accent1"/>
              </a:solidFill>
            </a:endParaRPr>
          </a:p>
        </p:txBody>
      </p:sp>
      <p:sp>
        <p:nvSpPr>
          <p:cNvPr id="23" name="TextBox 22">
            <a:extLst>
              <a:ext uri="{FF2B5EF4-FFF2-40B4-BE49-F238E27FC236}">
                <a16:creationId xmlns:a16="http://schemas.microsoft.com/office/drawing/2014/main" id="{C3BA2989-8A49-4B19-304D-C2CF22DE8281}"/>
              </a:ext>
            </a:extLst>
          </p:cNvPr>
          <p:cNvSpPr txBox="1"/>
          <p:nvPr/>
        </p:nvSpPr>
        <p:spPr>
          <a:xfrm>
            <a:off x="1681655" y="5386159"/>
            <a:ext cx="3373820" cy="810000"/>
          </a:xfrm>
          <a:prstGeom prst="rect">
            <a:avLst/>
          </a:prstGeom>
          <a:noFill/>
          <a:ln w="19050">
            <a:solidFill>
              <a:schemeClr val="accent1"/>
            </a:solidFill>
            <a:prstDash val="dash"/>
          </a:ln>
        </p:spPr>
        <p:txBody>
          <a:bodyPr wrap="square">
            <a:spAutoFit/>
          </a:bodyPr>
          <a:lstStyle/>
          <a:p>
            <a:endParaRPr lang="en-IN" sz="1400" dirty="0"/>
          </a:p>
        </p:txBody>
      </p:sp>
      <p:sp>
        <p:nvSpPr>
          <p:cNvPr id="24" name="TextBox 23">
            <a:extLst>
              <a:ext uri="{FF2B5EF4-FFF2-40B4-BE49-F238E27FC236}">
                <a16:creationId xmlns:a16="http://schemas.microsoft.com/office/drawing/2014/main" id="{D7CA4D63-B940-AE60-57F2-53D34283D041}"/>
              </a:ext>
            </a:extLst>
          </p:cNvPr>
          <p:cNvSpPr txBox="1"/>
          <p:nvPr/>
        </p:nvSpPr>
        <p:spPr>
          <a:xfrm>
            <a:off x="1860329" y="5498772"/>
            <a:ext cx="3005959" cy="584775"/>
          </a:xfrm>
          <a:prstGeom prst="rect">
            <a:avLst/>
          </a:prstGeom>
          <a:noFill/>
        </p:spPr>
        <p:txBody>
          <a:bodyPr wrap="square">
            <a:spAutoFit/>
          </a:bodyPr>
          <a:lstStyle/>
          <a:p>
            <a:pPr algn="ctr"/>
            <a:r>
              <a:rPr lang="en-IN" sz="1600" b="1" dirty="0">
                <a:solidFill>
                  <a:schemeClr val="accent1"/>
                </a:solidFill>
                <a:latin typeface="Helvetica" pitchFamily="2" charset="0"/>
              </a:rPr>
              <a:t>Handling the Gender parameter</a:t>
            </a:r>
            <a:endParaRPr lang="en-IN" sz="1600" b="1" dirty="0">
              <a:solidFill>
                <a:schemeClr val="accent1"/>
              </a:solidFill>
            </a:endParaRPr>
          </a:p>
        </p:txBody>
      </p:sp>
      <p:sp>
        <p:nvSpPr>
          <p:cNvPr id="26" name="TextBox 25">
            <a:extLst>
              <a:ext uri="{FF2B5EF4-FFF2-40B4-BE49-F238E27FC236}">
                <a16:creationId xmlns:a16="http://schemas.microsoft.com/office/drawing/2014/main" id="{C3F63F95-A435-44A0-1122-0DA105F2AD22}"/>
              </a:ext>
            </a:extLst>
          </p:cNvPr>
          <p:cNvSpPr txBox="1"/>
          <p:nvPr/>
        </p:nvSpPr>
        <p:spPr>
          <a:xfrm>
            <a:off x="1681654" y="4303707"/>
            <a:ext cx="3373821" cy="810000"/>
          </a:xfrm>
          <a:prstGeom prst="rect">
            <a:avLst/>
          </a:prstGeom>
          <a:noFill/>
          <a:ln w="19050">
            <a:solidFill>
              <a:schemeClr val="accent1"/>
            </a:solidFill>
            <a:prstDash val="dash"/>
          </a:ln>
        </p:spPr>
        <p:txBody>
          <a:bodyPr wrap="square">
            <a:spAutoFit/>
          </a:bodyPr>
          <a:lstStyle/>
          <a:p>
            <a:endParaRPr lang="en-IN" sz="1400" dirty="0"/>
          </a:p>
        </p:txBody>
      </p:sp>
      <p:sp>
        <p:nvSpPr>
          <p:cNvPr id="27" name="TextBox 26">
            <a:extLst>
              <a:ext uri="{FF2B5EF4-FFF2-40B4-BE49-F238E27FC236}">
                <a16:creationId xmlns:a16="http://schemas.microsoft.com/office/drawing/2014/main" id="{3AAFA31B-D882-9A27-1807-B3E1F7715CB1}"/>
              </a:ext>
            </a:extLst>
          </p:cNvPr>
          <p:cNvSpPr txBox="1"/>
          <p:nvPr/>
        </p:nvSpPr>
        <p:spPr>
          <a:xfrm>
            <a:off x="1860330" y="4421566"/>
            <a:ext cx="3005958" cy="584775"/>
          </a:xfrm>
          <a:prstGeom prst="rect">
            <a:avLst/>
          </a:prstGeom>
          <a:noFill/>
        </p:spPr>
        <p:txBody>
          <a:bodyPr wrap="square">
            <a:spAutoFit/>
          </a:bodyPr>
          <a:lstStyle/>
          <a:p>
            <a:pPr algn="ctr"/>
            <a:r>
              <a:rPr lang="en-IN" sz="1600" b="1" dirty="0">
                <a:solidFill>
                  <a:schemeClr val="accent1"/>
                </a:solidFill>
                <a:latin typeface="Helvetica" pitchFamily="2" charset="0"/>
              </a:rPr>
              <a:t>Handling User Activity parameter </a:t>
            </a:r>
            <a:endParaRPr lang="en-IN" sz="1600" b="1" dirty="0">
              <a:solidFill>
                <a:schemeClr val="accent1"/>
              </a:solidFill>
            </a:endParaRPr>
          </a:p>
        </p:txBody>
      </p:sp>
      <p:sp>
        <p:nvSpPr>
          <p:cNvPr id="29" name="TextBox 28">
            <a:extLst>
              <a:ext uri="{FF2B5EF4-FFF2-40B4-BE49-F238E27FC236}">
                <a16:creationId xmlns:a16="http://schemas.microsoft.com/office/drawing/2014/main" id="{018E05A6-5B59-17B6-0E37-8A1F9C1752E7}"/>
              </a:ext>
            </a:extLst>
          </p:cNvPr>
          <p:cNvSpPr txBox="1"/>
          <p:nvPr/>
        </p:nvSpPr>
        <p:spPr>
          <a:xfrm>
            <a:off x="1681653" y="3226500"/>
            <a:ext cx="3373822" cy="810000"/>
          </a:xfrm>
          <a:prstGeom prst="rect">
            <a:avLst/>
          </a:prstGeom>
          <a:noFill/>
          <a:ln w="19050">
            <a:solidFill>
              <a:schemeClr val="accent1"/>
            </a:solidFill>
            <a:prstDash val="dash"/>
          </a:ln>
        </p:spPr>
        <p:txBody>
          <a:bodyPr wrap="square">
            <a:spAutoFit/>
          </a:bodyPr>
          <a:lstStyle/>
          <a:p>
            <a:endParaRPr lang="en-IN" sz="1400" dirty="0"/>
          </a:p>
        </p:txBody>
      </p:sp>
      <p:sp>
        <p:nvSpPr>
          <p:cNvPr id="30" name="TextBox 29">
            <a:extLst>
              <a:ext uri="{FF2B5EF4-FFF2-40B4-BE49-F238E27FC236}">
                <a16:creationId xmlns:a16="http://schemas.microsoft.com/office/drawing/2014/main" id="{05B879C1-B507-F128-B568-D17CC8855A54}"/>
              </a:ext>
            </a:extLst>
          </p:cNvPr>
          <p:cNvSpPr txBox="1"/>
          <p:nvPr/>
        </p:nvSpPr>
        <p:spPr>
          <a:xfrm>
            <a:off x="1860329" y="3344361"/>
            <a:ext cx="3005959" cy="584775"/>
          </a:xfrm>
          <a:prstGeom prst="rect">
            <a:avLst/>
          </a:prstGeom>
          <a:noFill/>
        </p:spPr>
        <p:txBody>
          <a:bodyPr wrap="square">
            <a:spAutoFit/>
          </a:bodyPr>
          <a:lstStyle/>
          <a:p>
            <a:pPr algn="ctr"/>
            <a:r>
              <a:rPr lang="en-IN" sz="1600" b="1" dirty="0">
                <a:solidFill>
                  <a:schemeClr val="accent1"/>
                </a:solidFill>
                <a:latin typeface="Helvetica" pitchFamily="2" charset="0"/>
              </a:rPr>
              <a:t>Handling Location parameter</a:t>
            </a:r>
            <a:endParaRPr lang="en-IN" sz="1600" b="1" dirty="0">
              <a:solidFill>
                <a:schemeClr val="accent1"/>
              </a:solidFill>
            </a:endParaRPr>
          </a:p>
        </p:txBody>
      </p:sp>
      <p:sp>
        <p:nvSpPr>
          <p:cNvPr id="32" name="TextBox 31">
            <a:extLst>
              <a:ext uri="{FF2B5EF4-FFF2-40B4-BE49-F238E27FC236}">
                <a16:creationId xmlns:a16="http://schemas.microsoft.com/office/drawing/2014/main" id="{7FEF96CF-325F-DE0D-811E-CC2E62756A26}"/>
              </a:ext>
            </a:extLst>
          </p:cNvPr>
          <p:cNvSpPr txBox="1"/>
          <p:nvPr/>
        </p:nvSpPr>
        <p:spPr>
          <a:xfrm>
            <a:off x="1681652" y="2154543"/>
            <a:ext cx="3373823" cy="810000"/>
          </a:xfrm>
          <a:prstGeom prst="rect">
            <a:avLst/>
          </a:prstGeom>
          <a:noFill/>
          <a:ln w="19050">
            <a:solidFill>
              <a:schemeClr val="accent1"/>
            </a:solidFill>
            <a:prstDash val="dash"/>
          </a:ln>
        </p:spPr>
        <p:txBody>
          <a:bodyPr wrap="square">
            <a:spAutoFit/>
          </a:bodyPr>
          <a:lstStyle/>
          <a:p>
            <a:endParaRPr lang="en-IN" sz="1400" dirty="0"/>
          </a:p>
        </p:txBody>
      </p:sp>
      <p:sp>
        <p:nvSpPr>
          <p:cNvPr id="33" name="TextBox 32">
            <a:extLst>
              <a:ext uri="{FF2B5EF4-FFF2-40B4-BE49-F238E27FC236}">
                <a16:creationId xmlns:a16="http://schemas.microsoft.com/office/drawing/2014/main" id="{B52B4322-D472-4346-CE64-96D7BE8A786F}"/>
              </a:ext>
            </a:extLst>
          </p:cNvPr>
          <p:cNvSpPr txBox="1"/>
          <p:nvPr/>
        </p:nvSpPr>
        <p:spPr>
          <a:xfrm>
            <a:off x="1870840" y="2267156"/>
            <a:ext cx="2995448" cy="584775"/>
          </a:xfrm>
          <a:prstGeom prst="rect">
            <a:avLst/>
          </a:prstGeom>
          <a:noFill/>
        </p:spPr>
        <p:txBody>
          <a:bodyPr wrap="square">
            <a:spAutoFit/>
          </a:bodyPr>
          <a:lstStyle/>
          <a:p>
            <a:pPr algn="ctr"/>
            <a:r>
              <a:rPr lang="en-IN" sz="1600" b="1" dirty="0">
                <a:solidFill>
                  <a:schemeClr val="accent1"/>
                </a:solidFill>
                <a:latin typeface="Helvetica" pitchFamily="2" charset="0"/>
              </a:rPr>
              <a:t>Handling Age Group parameter  </a:t>
            </a:r>
            <a:endParaRPr lang="en-IN" sz="1600" b="1" dirty="0">
              <a:solidFill>
                <a:schemeClr val="accent1"/>
              </a:solidFill>
            </a:endParaRPr>
          </a:p>
        </p:txBody>
      </p:sp>
      <p:sp>
        <p:nvSpPr>
          <p:cNvPr id="2" name="TextBox 1">
            <a:extLst>
              <a:ext uri="{FF2B5EF4-FFF2-40B4-BE49-F238E27FC236}">
                <a16:creationId xmlns:a16="http://schemas.microsoft.com/office/drawing/2014/main" id="{5030657C-8F57-C679-C297-42F4D13F62A8}"/>
              </a:ext>
            </a:extLst>
          </p:cNvPr>
          <p:cNvSpPr txBox="1"/>
          <p:nvPr/>
        </p:nvSpPr>
        <p:spPr>
          <a:xfrm>
            <a:off x="5244663" y="1072089"/>
            <a:ext cx="6212035" cy="810000"/>
          </a:xfrm>
          <a:prstGeom prst="rect">
            <a:avLst/>
          </a:prstGeom>
          <a:solidFill>
            <a:schemeClr val="accent1">
              <a:lumMod val="75000"/>
            </a:schemeClr>
          </a:solidFill>
          <a:ln w="19050">
            <a:noFill/>
            <a:prstDash val="dash"/>
          </a:ln>
        </p:spPr>
        <p:txBody>
          <a:bodyPr wrap="square">
            <a:spAutoFit/>
          </a:bodyPr>
          <a:lstStyle/>
          <a:p>
            <a:endParaRPr lang="en-IN" sz="1400" dirty="0"/>
          </a:p>
        </p:txBody>
      </p:sp>
      <p:sp>
        <p:nvSpPr>
          <p:cNvPr id="4" name="TextBox 3">
            <a:extLst>
              <a:ext uri="{FF2B5EF4-FFF2-40B4-BE49-F238E27FC236}">
                <a16:creationId xmlns:a16="http://schemas.microsoft.com/office/drawing/2014/main" id="{76D8C804-54F4-FF58-AA0B-1FC315A58F86}"/>
              </a:ext>
            </a:extLst>
          </p:cNvPr>
          <p:cNvSpPr txBox="1"/>
          <p:nvPr/>
        </p:nvSpPr>
        <p:spPr>
          <a:xfrm>
            <a:off x="6096000" y="5380911"/>
            <a:ext cx="5360698" cy="810000"/>
          </a:xfrm>
          <a:prstGeom prst="rect">
            <a:avLst/>
          </a:prstGeom>
          <a:solidFill>
            <a:schemeClr val="accent1">
              <a:lumMod val="40000"/>
              <a:lumOff val="60000"/>
            </a:schemeClr>
          </a:solidFill>
          <a:ln w="19050">
            <a:noFill/>
            <a:prstDash val="dash"/>
          </a:ln>
        </p:spPr>
        <p:txBody>
          <a:bodyPr wrap="square">
            <a:spAutoFit/>
          </a:bodyPr>
          <a:lstStyle/>
          <a:p>
            <a:endParaRPr lang="en-IN" sz="1400" dirty="0"/>
          </a:p>
        </p:txBody>
      </p:sp>
      <p:sp>
        <p:nvSpPr>
          <p:cNvPr id="6" name="TextBox 5">
            <a:extLst>
              <a:ext uri="{FF2B5EF4-FFF2-40B4-BE49-F238E27FC236}">
                <a16:creationId xmlns:a16="http://schemas.microsoft.com/office/drawing/2014/main" id="{0441146A-43F9-3244-30F9-15019114A697}"/>
              </a:ext>
            </a:extLst>
          </p:cNvPr>
          <p:cNvSpPr txBox="1"/>
          <p:nvPr/>
        </p:nvSpPr>
        <p:spPr>
          <a:xfrm>
            <a:off x="5244663" y="4303707"/>
            <a:ext cx="6212035" cy="810000"/>
          </a:xfrm>
          <a:prstGeom prst="rect">
            <a:avLst/>
          </a:prstGeom>
          <a:solidFill>
            <a:schemeClr val="accent1">
              <a:lumMod val="75000"/>
            </a:schemeClr>
          </a:solidFill>
          <a:ln w="19050">
            <a:noFill/>
            <a:prstDash val="dash"/>
          </a:ln>
        </p:spPr>
        <p:txBody>
          <a:bodyPr wrap="square">
            <a:spAutoFit/>
          </a:bodyPr>
          <a:lstStyle/>
          <a:p>
            <a:endParaRPr lang="en-IN" sz="1400" dirty="0"/>
          </a:p>
        </p:txBody>
      </p:sp>
      <p:sp>
        <p:nvSpPr>
          <p:cNvPr id="8" name="TextBox 7">
            <a:extLst>
              <a:ext uri="{FF2B5EF4-FFF2-40B4-BE49-F238E27FC236}">
                <a16:creationId xmlns:a16="http://schemas.microsoft.com/office/drawing/2014/main" id="{13169912-0F2B-425B-5F6F-3417EC0C285A}"/>
              </a:ext>
            </a:extLst>
          </p:cNvPr>
          <p:cNvSpPr txBox="1"/>
          <p:nvPr/>
        </p:nvSpPr>
        <p:spPr>
          <a:xfrm>
            <a:off x="6096000" y="8612529"/>
            <a:ext cx="5360698" cy="810000"/>
          </a:xfrm>
          <a:prstGeom prst="rect">
            <a:avLst/>
          </a:prstGeom>
          <a:solidFill>
            <a:schemeClr val="accent1">
              <a:lumMod val="40000"/>
              <a:lumOff val="60000"/>
            </a:schemeClr>
          </a:solidFill>
          <a:ln w="19050">
            <a:noFill/>
            <a:prstDash val="dash"/>
          </a:ln>
        </p:spPr>
        <p:txBody>
          <a:bodyPr wrap="square">
            <a:spAutoFit/>
          </a:bodyPr>
          <a:lstStyle/>
          <a:p>
            <a:endParaRPr lang="en-IN" sz="1400" dirty="0"/>
          </a:p>
        </p:txBody>
      </p:sp>
      <p:sp>
        <p:nvSpPr>
          <p:cNvPr id="10" name="TextBox 9">
            <a:extLst>
              <a:ext uri="{FF2B5EF4-FFF2-40B4-BE49-F238E27FC236}">
                <a16:creationId xmlns:a16="http://schemas.microsoft.com/office/drawing/2014/main" id="{21B52F37-6F79-1751-3FCC-723CC4BCCEC0}"/>
              </a:ext>
            </a:extLst>
          </p:cNvPr>
          <p:cNvSpPr txBox="1"/>
          <p:nvPr/>
        </p:nvSpPr>
        <p:spPr>
          <a:xfrm>
            <a:off x="5244663" y="2149295"/>
            <a:ext cx="6212035" cy="810000"/>
          </a:xfrm>
          <a:prstGeom prst="rect">
            <a:avLst/>
          </a:prstGeom>
          <a:solidFill>
            <a:schemeClr val="accent1">
              <a:lumMod val="75000"/>
            </a:schemeClr>
          </a:solidFill>
          <a:ln w="19050">
            <a:noFill/>
            <a:prstDash val="dash"/>
          </a:ln>
        </p:spPr>
        <p:txBody>
          <a:bodyPr wrap="square">
            <a:spAutoFit/>
          </a:bodyPr>
          <a:lstStyle/>
          <a:p>
            <a:endParaRPr lang="en-IN" sz="1400" dirty="0"/>
          </a:p>
        </p:txBody>
      </p:sp>
      <p:sp>
        <p:nvSpPr>
          <p:cNvPr id="12" name="TextBox 11">
            <a:extLst>
              <a:ext uri="{FF2B5EF4-FFF2-40B4-BE49-F238E27FC236}">
                <a16:creationId xmlns:a16="http://schemas.microsoft.com/office/drawing/2014/main" id="{88D227C5-58F7-E39D-936F-0CCC8E22933A}"/>
              </a:ext>
            </a:extLst>
          </p:cNvPr>
          <p:cNvSpPr txBox="1"/>
          <p:nvPr/>
        </p:nvSpPr>
        <p:spPr>
          <a:xfrm>
            <a:off x="5244663" y="5380913"/>
            <a:ext cx="6212035" cy="810000"/>
          </a:xfrm>
          <a:prstGeom prst="rect">
            <a:avLst/>
          </a:prstGeom>
          <a:solidFill>
            <a:schemeClr val="accent1">
              <a:lumMod val="75000"/>
            </a:schemeClr>
          </a:solidFill>
          <a:ln w="19050">
            <a:noFill/>
            <a:prstDash val="dash"/>
          </a:ln>
        </p:spPr>
        <p:txBody>
          <a:bodyPr wrap="square">
            <a:spAutoFit/>
          </a:bodyPr>
          <a:lstStyle/>
          <a:p>
            <a:endParaRPr lang="en-IN" sz="1400" dirty="0"/>
          </a:p>
        </p:txBody>
      </p:sp>
      <p:sp>
        <p:nvSpPr>
          <p:cNvPr id="15" name="TextBox 14">
            <a:extLst>
              <a:ext uri="{FF2B5EF4-FFF2-40B4-BE49-F238E27FC236}">
                <a16:creationId xmlns:a16="http://schemas.microsoft.com/office/drawing/2014/main" id="{601BA8DF-3379-75F1-0EC1-375BD00C1D47}"/>
              </a:ext>
            </a:extLst>
          </p:cNvPr>
          <p:cNvSpPr txBox="1"/>
          <p:nvPr/>
        </p:nvSpPr>
        <p:spPr>
          <a:xfrm>
            <a:off x="6096000" y="9689735"/>
            <a:ext cx="5360698" cy="810000"/>
          </a:xfrm>
          <a:prstGeom prst="rect">
            <a:avLst/>
          </a:prstGeom>
          <a:solidFill>
            <a:schemeClr val="accent1">
              <a:lumMod val="40000"/>
              <a:lumOff val="60000"/>
            </a:schemeClr>
          </a:solidFill>
          <a:ln w="19050">
            <a:noFill/>
            <a:prstDash val="dash"/>
          </a:ln>
        </p:spPr>
        <p:txBody>
          <a:bodyPr wrap="square">
            <a:spAutoFit/>
          </a:bodyPr>
          <a:lstStyle/>
          <a:p>
            <a:endParaRPr lang="en-IN" sz="1400" dirty="0"/>
          </a:p>
        </p:txBody>
      </p:sp>
      <p:sp>
        <p:nvSpPr>
          <p:cNvPr id="16" name="TextBox 15">
            <a:extLst>
              <a:ext uri="{FF2B5EF4-FFF2-40B4-BE49-F238E27FC236}">
                <a16:creationId xmlns:a16="http://schemas.microsoft.com/office/drawing/2014/main" id="{FB1FA1C8-5E3D-DBF8-9CE2-A2DCC064D01E}"/>
              </a:ext>
            </a:extLst>
          </p:cNvPr>
          <p:cNvSpPr txBox="1"/>
          <p:nvPr/>
        </p:nvSpPr>
        <p:spPr>
          <a:xfrm>
            <a:off x="5244663" y="3229301"/>
            <a:ext cx="6212035" cy="810000"/>
          </a:xfrm>
          <a:prstGeom prst="rect">
            <a:avLst/>
          </a:prstGeom>
          <a:solidFill>
            <a:schemeClr val="accent1">
              <a:lumMod val="75000"/>
            </a:schemeClr>
          </a:solidFill>
          <a:ln w="19050">
            <a:noFill/>
            <a:prstDash val="dash"/>
          </a:ln>
        </p:spPr>
        <p:txBody>
          <a:bodyPr wrap="square">
            <a:spAutoFit/>
          </a:bodyPr>
          <a:lstStyle/>
          <a:p>
            <a:endParaRPr lang="en-IN" sz="1400" dirty="0"/>
          </a:p>
        </p:txBody>
      </p:sp>
      <p:sp>
        <p:nvSpPr>
          <p:cNvPr id="17" name="TextBox 16">
            <a:extLst>
              <a:ext uri="{FF2B5EF4-FFF2-40B4-BE49-F238E27FC236}">
                <a16:creationId xmlns:a16="http://schemas.microsoft.com/office/drawing/2014/main" id="{EE380253-3A0F-F9FD-D39D-BF929AD4E995}"/>
              </a:ext>
            </a:extLst>
          </p:cNvPr>
          <p:cNvSpPr txBox="1"/>
          <p:nvPr/>
        </p:nvSpPr>
        <p:spPr>
          <a:xfrm>
            <a:off x="5444464" y="1153924"/>
            <a:ext cx="5812432" cy="646331"/>
          </a:xfrm>
          <a:prstGeom prst="rect">
            <a:avLst/>
          </a:prstGeom>
          <a:noFill/>
        </p:spPr>
        <p:txBody>
          <a:bodyPr wrap="square">
            <a:spAutoFit/>
          </a:bodyPr>
          <a:lstStyle/>
          <a:p>
            <a:pPr algn="ctr"/>
            <a:r>
              <a:rPr lang="en-IN" sz="1200" b="1" dirty="0">
                <a:solidFill>
                  <a:schemeClr val="bg1"/>
                </a:solidFill>
                <a:latin typeface="Helvetica" pitchFamily="2" charset="0"/>
              </a:rPr>
              <a:t>Focusing less on customers having 3 or 4 products. Focusing more on customers having 1 product and then motivating them to acquire another product, most preferably a credit card (due to comparatively less churn) </a:t>
            </a:r>
            <a:endParaRPr lang="en-IN" sz="1200" b="1" dirty="0">
              <a:solidFill>
                <a:schemeClr val="bg1"/>
              </a:solidFill>
            </a:endParaRPr>
          </a:p>
        </p:txBody>
      </p:sp>
      <p:sp>
        <p:nvSpPr>
          <p:cNvPr id="18" name="TextBox 17">
            <a:extLst>
              <a:ext uri="{FF2B5EF4-FFF2-40B4-BE49-F238E27FC236}">
                <a16:creationId xmlns:a16="http://schemas.microsoft.com/office/drawing/2014/main" id="{AA367323-FFF7-2710-EA33-560A388FFBF5}"/>
              </a:ext>
            </a:extLst>
          </p:cNvPr>
          <p:cNvSpPr txBox="1"/>
          <p:nvPr/>
        </p:nvSpPr>
        <p:spPr>
          <a:xfrm>
            <a:off x="5449772" y="2231130"/>
            <a:ext cx="5801816" cy="646331"/>
          </a:xfrm>
          <a:prstGeom prst="rect">
            <a:avLst/>
          </a:prstGeom>
          <a:noFill/>
        </p:spPr>
        <p:txBody>
          <a:bodyPr wrap="square">
            <a:spAutoFit/>
          </a:bodyPr>
          <a:lstStyle/>
          <a:p>
            <a:pPr algn="ctr"/>
            <a:r>
              <a:rPr lang="en-IN" sz="1200" b="1" dirty="0">
                <a:solidFill>
                  <a:schemeClr val="bg1"/>
                </a:solidFill>
                <a:latin typeface="Helvetica" pitchFamily="2" charset="0"/>
              </a:rPr>
              <a:t>Giving higher rewards to young adults (18-30) and lowering attention on senior citizens (50+). Improving services for active members in the age group 31-50 to reduce churn   </a:t>
            </a:r>
            <a:endParaRPr lang="en-IN" sz="1200" b="1" dirty="0">
              <a:solidFill>
                <a:schemeClr val="bg1"/>
              </a:solidFill>
            </a:endParaRPr>
          </a:p>
        </p:txBody>
      </p:sp>
      <p:sp>
        <p:nvSpPr>
          <p:cNvPr id="19" name="TextBox 18">
            <a:extLst>
              <a:ext uri="{FF2B5EF4-FFF2-40B4-BE49-F238E27FC236}">
                <a16:creationId xmlns:a16="http://schemas.microsoft.com/office/drawing/2014/main" id="{B3C61D5E-17D9-3007-9684-982FC69B054E}"/>
              </a:ext>
            </a:extLst>
          </p:cNvPr>
          <p:cNvSpPr txBox="1"/>
          <p:nvPr/>
        </p:nvSpPr>
        <p:spPr>
          <a:xfrm>
            <a:off x="5449772" y="3311136"/>
            <a:ext cx="5801816" cy="646331"/>
          </a:xfrm>
          <a:prstGeom prst="rect">
            <a:avLst/>
          </a:prstGeom>
          <a:noFill/>
        </p:spPr>
        <p:txBody>
          <a:bodyPr wrap="square">
            <a:spAutoFit/>
          </a:bodyPr>
          <a:lstStyle/>
          <a:p>
            <a:pPr algn="ctr"/>
            <a:r>
              <a:rPr lang="en-IN" sz="1200" b="1" dirty="0">
                <a:solidFill>
                  <a:schemeClr val="bg1"/>
                </a:solidFill>
                <a:latin typeface="Helvetica" pitchFamily="2" charset="0"/>
              </a:rPr>
              <a:t>Expanding into the markets of Spain due to high active customers and low churn. Maintaining health balance in the market of France. Understanding and making calculated decisions in the German market.</a:t>
            </a:r>
            <a:endParaRPr lang="en-IN" sz="1200" b="1" dirty="0">
              <a:solidFill>
                <a:schemeClr val="bg1"/>
              </a:solidFill>
            </a:endParaRPr>
          </a:p>
        </p:txBody>
      </p:sp>
      <p:sp>
        <p:nvSpPr>
          <p:cNvPr id="21" name="TextBox 20">
            <a:extLst>
              <a:ext uri="{FF2B5EF4-FFF2-40B4-BE49-F238E27FC236}">
                <a16:creationId xmlns:a16="http://schemas.microsoft.com/office/drawing/2014/main" id="{A377E680-5456-DB6F-B528-A4713033B58B}"/>
              </a:ext>
            </a:extLst>
          </p:cNvPr>
          <p:cNvSpPr txBox="1"/>
          <p:nvPr/>
        </p:nvSpPr>
        <p:spPr>
          <a:xfrm>
            <a:off x="5444464" y="4385542"/>
            <a:ext cx="5801816" cy="646331"/>
          </a:xfrm>
          <a:prstGeom prst="rect">
            <a:avLst/>
          </a:prstGeom>
          <a:noFill/>
        </p:spPr>
        <p:txBody>
          <a:bodyPr wrap="square">
            <a:spAutoFit/>
          </a:bodyPr>
          <a:lstStyle/>
          <a:p>
            <a:pPr algn="ctr"/>
            <a:r>
              <a:rPr lang="en-IN" sz="1200" b="1" dirty="0">
                <a:solidFill>
                  <a:schemeClr val="bg1"/>
                </a:solidFill>
                <a:latin typeface="Helvetica" pitchFamily="2" charset="0"/>
              </a:rPr>
              <a:t>Inactive customers without a considerable credit rating should be given higher rewards. Active customers having considerable credit ratings should be given higher rewards and additional rewards for credit card usage.</a:t>
            </a:r>
            <a:endParaRPr lang="en-IN" sz="1200" b="1" dirty="0">
              <a:solidFill>
                <a:schemeClr val="bg1"/>
              </a:solidFill>
            </a:endParaRPr>
          </a:p>
        </p:txBody>
      </p:sp>
      <p:sp>
        <p:nvSpPr>
          <p:cNvPr id="22" name="TextBox 21">
            <a:extLst>
              <a:ext uri="{FF2B5EF4-FFF2-40B4-BE49-F238E27FC236}">
                <a16:creationId xmlns:a16="http://schemas.microsoft.com/office/drawing/2014/main" id="{A8906ABD-36CF-AA93-BC65-092A12B7A198}"/>
              </a:ext>
            </a:extLst>
          </p:cNvPr>
          <p:cNvSpPr txBox="1"/>
          <p:nvPr/>
        </p:nvSpPr>
        <p:spPr>
          <a:xfrm>
            <a:off x="5444464" y="5462748"/>
            <a:ext cx="5801816" cy="646331"/>
          </a:xfrm>
          <a:prstGeom prst="rect">
            <a:avLst/>
          </a:prstGeom>
          <a:noFill/>
        </p:spPr>
        <p:txBody>
          <a:bodyPr wrap="square">
            <a:spAutoFit/>
          </a:bodyPr>
          <a:lstStyle/>
          <a:p>
            <a:pPr algn="ctr"/>
            <a:r>
              <a:rPr lang="en-IN" sz="1200" b="1" dirty="0">
                <a:solidFill>
                  <a:schemeClr val="bg1"/>
                </a:solidFill>
                <a:latin typeface="Helvetica" pitchFamily="2" charset="0"/>
              </a:rPr>
              <a:t>Since Females have a higher churn rate and lower activeness than Males, we should find the bottlenecks of such behaviour and make policies and reward systems that a proper balance can be established.</a:t>
            </a:r>
            <a:endParaRPr lang="en-IN" sz="1200" b="1" dirty="0">
              <a:solidFill>
                <a:schemeClr val="bg1"/>
              </a:solidFill>
            </a:endParaRPr>
          </a:p>
        </p:txBody>
      </p:sp>
    </p:spTree>
    <p:extLst>
      <p:ext uri="{BB962C8B-B14F-4D97-AF65-F5344CB8AC3E}">
        <p14:creationId xmlns:p14="http://schemas.microsoft.com/office/powerpoint/2010/main" val="2218791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E75F4-6E64-C0F9-9D20-33F6FB5DBAE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E84C961-6E69-6158-A803-598E87A70062}"/>
              </a:ext>
            </a:extLst>
          </p:cNvPr>
          <p:cNvSpPr txBox="1"/>
          <p:nvPr/>
        </p:nvSpPr>
        <p:spPr>
          <a:xfrm>
            <a:off x="2448911" y="2921169"/>
            <a:ext cx="7294179" cy="1015663"/>
          </a:xfrm>
          <a:prstGeom prst="rect">
            <a:avLst/>
          </a:prstGeom>
          <a:noFill/>
        </p:spPr>
        <p:txBody>
          <a:bodyPr wrap="square">
            <a:spAutoFit/>
          </a:bodyPr>
          <a:lstStyle/>
          <a:p>
            <a:pPr algn="ctr"/>
            <a:r>
              <a:rPr lang="en-IN" sz="6000" b="1" dirty="0">
                <a:solidFill>
                  <a:schemeClr val="accent2"/>
                </a:solidFill>
                <a:latin typeface="Helvetica" pitchFamily="2" charset="0"/>
                <a:ea typeface="Verdana" panose="020B0604030504040204" pitchFamily="34" charset="0"/>
              </a:rPr>
              <a:t>CONCLUSION</a:t>
            </a:r>
            <a:endParaRPr lang="en-IN" sz="6000" b="1" dirty="0">
              <a:solidFill>
                <a:schemeClr val="accent2"/>
              </a:solidFill>
            </a:endParaRPr>
          </a:p>
        </p:txBody>
      </p:sp>
    </p:spTree>
    <p:extLst>
      <p:ext uri="{BB962C8B-B14F-4D97-AF65-F5344CB8AC3E}">
        <p14:creationId xmlns:p14="http://schemas.microsoft.com/office/powerpoint/2010/main" val="24086811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381BD-CC63-1D13-662A-F12FFD9502E1}"/>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768046F-46E5-FA1E-69F2-922FF9E07510}"/>
              </a:ext>
            </a:extLst>
          </p:cNvPr>
          <p:cNvGraphicFramePr>
            <a:graphicFrameLocks noGrp="1"/>
          </p:cNvGraphicFramePr>
          <p:nvPr>
            <p:extLst>
              <p:ext uri="{D42A27DB-BD31-4B8C-83A1-F6EECF244321}">
                <p14:modId xmlns:p14="http://schemas.microsoft.com/office/powerpoint/2010/main" val="3203432320"/>
              </p:ext>
            </p:extLst>
          </p:nvPr>
        </p:nvGraphicFramePr>
        <p:xfrm>
          <a:off x="425668" y="1125646"/>
          <a:ext cx="11340663" cy="4606707"/>
        </p:xfrm>
        <a:graphic>
          <a:graphicData uri="http://schemas.openxmlformats.org/drawingml/2006/table">
            <a:tbl>
              <a:tblPr firstRow="1" bandRow="1">
                <a:tableStyleId>{8A107856-5554-42FB-B03E-39F5DBC370BA}</a:tableStyleId>
              </a:tblPr>
              <a:tblGrid>
                <a:gridCol w="1255987">
                  <a:extLst>
                    <a:ext uri="{9D8B030D-6E8A-4147-A177-3AD203B41FA5}">
                      <a16:colId xmlns:a16="http://schemas.microsoft.com/office/drawing/2014/main" val="489914312"/>
                    </a:ext>
                  </a:extLst>
                </a:gridCol>
                <a:gridCol w="2764221">
                  <a:extLst>
                    <a:ext uri="{9D8B030D-6E8A-4147-A177-3AD203B41FA5}">
                      <a16:colId xmlns:a16="http://schemas.microsoft.com/office/drawing/2014/main" val="1830514137"/>
                    </a:ext>
                  </a:extLst>
                </a:gridCol>
                <a:gridCol w="7320455">
                  <a:extLst>
                    <a:ext uri="{9D8B030D-6E8A-4147-A177-3AD203B41FA5}">
                      <a16:colId xmlns:a16="http://schemas.microsoft.com/office/drawing/2014/main" val="842001167"/>
                    </a:ext>
                  </a:extLst>
                </a:gridCol>
              </a:tblGrid>
              <a:tr h="435714">
                <a:tc>
                  <a:txBody>
                    <a:bodyPr/>
                    <a:lstStyle/>
                    <a:p>
                      <a:pPr algn="ctr">
                        <a:buNone/>
                      </a:pPr>
                      <a:r>
                        <a:rPr lang="en-IN" sz="1800" dirty="0">
                          <a:solidFill>
                            <a:schemeClr val="bg1"/>
                          </a:solidFill>
                          <a:latin typeface="Helvetica" pitchFamily="2" charset="0"/>
                        </a:rPr>
                        <a:t>Goal</a:t>
                      </a:r>
                    </a:p>
                  </a:txBody>
                  <a:tcPr anchor="ctr">
                    <a:solidFill>
                      <a:schemeClr val="accent2"/>
                    </a:solidFill>
                  </a:tcPr>
                </a:tc>
                <a:tc>
                  <a:txBody>
                    <a:bodyPr/>
                    <a:lstStyle/>
                    <a:p>
                      <a:pPr algn="ctr">
                        <a:buNone/>
                      </a:pPr>
                      <a:r>
                        <a:rPr lang="en-IN" sz="1800" dirty="0">
                          <a:solidFill>
                            <a:schemeClr val="bg1"/>
                          </a:solidFill>
                          <a:latin typeface="Helvetica" pitchFamily="2" charset="0"/>
                        </a:rPr>
                        <a:t>Improvement Area</a:t>
                      </a:r>
                    </a:p>
                  </a:txBody>
                  <a:tcPr anchor="ctr">
                    <a:solidFill>
                      <a:schemeClr val="accent2"/>
                    </a:solidFill>
                  </a:tcPr>
                </a:tc>
                <a:tc>
                  <a:txBody>
                    <a:bodyPr/>
                    <a:lstStyle/>
                    <a:p>
                      <a:pPr algn="ctr">
                        <a:buNone/>
                      </a:pPr>
                      <a:r>
                        <a:rPr lang="en-IN" sz="1800" dirty="0">
                          <a:solidFill>
                            <a:schemeClr val="bg1"/>
                          </a:solidFill>
                          <a:latin typeface="Helvetica" pitchFamily="2" charset="0"/>
                        </a:rPr>
                        <a:t>Recommendations</a:t>
                      </a:r>
                    </a:p>
                  </a:txBody>
                  <a:tcPr anchor="ctr">
                    <a:solidFill>
                      <a:schemeClr val="accent2"/>
                    </a:solidFill>
                  </a:tcPr>
                </a:tc>
                <a:extLst>
                  <a:ext uri="{0D108BD9-81ED-4DB2-BD59-A6C34878D82A}">
                    <a16:rowId xmlns:a16="http://schemas.microsoft.com/office/drawing/2014/main" val="3689740115"/>
                  </a:ext>
                </a:extLst>
              </a:tr>
              <a:tr h="659913">
                <a:tc rowSpan="3">
                  <a:txBody>
                    <a:bodyPr/>
                    <a:lstStyle/>
                    <a:p>
                      <a:pPr marL="0" lv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Reduce Churn Rate</a:t>
                      </a:r>
                    </a:p>
                  </a:txBody>
                  <a:tcPr anchor="ctr">
                    <a:solidFill>
                      <a:schemeClr val="accent2">
                        <a:lumMod val="60000"/>
                        <a:lumOff val="40000"/>
                      </a:schemeClr>
                    </a:solidFill>
                  </a:tcP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Number of Products</a:t>
                      </a:r>
                    </a:p>
                  </a:txBody>
                  <a:tcPr anchor="ctr">
                    <a:solidFill>
                      <a:schemeClr val="accent2">
                        <a:lumMod val="20000"/>
                        <a:lumOff val="80000"/>
                      </a:schemeClr>
                    </a:solidFill>
                  </a:tcP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Directing the customer to have a maximum of two products. Introduce credit cards to customers who have one product and do not use credit cards. </a:t>
                      </a:r>
                    </a:p>
                  </a:txBody>
                  <a:tcPr anchor="ctr">
                    <a:solidFill>
                      <a:schemeClr val="bg1"/>
                    </a:solidFill>
                  </a:tcPr>
                </a:tc>
                <a:extLst>
                  <a:ext uri="{0D108BD9-81ED-4DB2-BD59-A6C34878D82A}">
                    <a16:rowId xmlns:a16="http://schemas.microsoft.com/office/drawing/2014/main" val="2613978552"/>
                  </a:ext>
                </a:extLst>
              </a:tr>
              <a:tr h="435714">
                <a:tc vMerge="1">
                  <a:txBody>
                    <a:bodyPr/>
                    <a:lstStyle/>
                    <a:p>
                      <a:pPr marL="0" lvl="0" algn="ctr" defTabSz="914400" rtl="0" eaLnBrk="1" latinLnBrk="0" hangingPunct="1">
                        <a:lnSpc>
                          <a:spcPct val="115000"/>
                        </a:lnSpc>
                        <a:spcAft>
                          <a:spcPts val="800"/>
                        </a:spcAft>
                        <a:buNone/>
                      </a:pPr>
                      <a:endParaRPr lang="en-IN" sz="1400" kern="1200" dirty="0">
                        <a:solidFill>
                          <a:schemeClr val="dk1"/>
                        </a:solidFill>
                        <a:latin typeface="Helvetica" pitchFamily="2" charset="0"/>
                        <a:ea typeface="+mn-ea"/>
                        <a:cs typeface="+mn-cs"/>
                      </a:endParaRP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Location</a:t>
                      </a:r>
                    </a:p>
                  </a:txBody>
                  <a:tcPr anchor="ctr">
                    <a:solidFill>
                      <a:schemeClr val="accent2">
                        <a:lumMod val="20000"/>
                        <a:lumOff val="80000"/>
                      </a:schemeClr>
                    </a:solidFill>
                  </a:tcP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Acquiring more customers in Spain. Making calculated decisions in Germany,</a:t>
                      </a:r>
                    </a:p>
                  </a:txBody>
                  <a:tcPr anchor="ctr">
                    <a:solidFill>
                      <a:schemeClr val="bg1"/>
                    </a:solidFill>
                  </a:tcPr>
                </a:tc>
                <a:extLst>
                  <a:ext uri="{0D108BD9-81ED-4DB2-BD59-A6C34878D82A}">
                    <a16:rowId xmlns:a16="http://schemas.microsoft.com/office/drawing/2014/main" val="918582987"/>
                  </a:ext>
                </a:extLst>
              </a:tr>
              <a:tr h="659913">
                <a:tc vMerge="1">
                  <a:txBody>
                    <a:bodyPr/>
                    <a:lstStyle/>
                    <a:p>
                      <a:pPr marL="0" lvl="0" algn="ctr" defTabSz="914400" rtl="0" eaLnBrk="1" latinLnBrk="0" hangingPunct="1">
                        <a:lnSpc>
                          <a:spcPct val="115000"/>
                        </a:lnSpc>
                        <a:spcAft>
                          <a:spcPts val="800"/>
                        </a:spcAft>
                        <a:buNone/>
                      </a:pPr>
                      <a:endParaRPr lang="en-IN" sz="1400" kern="1200" dirty="0">
                        <a:solidFill>
                          <a:schemeClr val="dk1"/>
                        </a:solidFill>
                        <a:latin typeface="Helvetica" pitchFamily="2" charset="0"/>
                        <a:ea typeface="+mn-ea"/>
                        <a:cs typeface="+mn-cs"/>
                      </a:endParaRPr>
                    </a:p>
                  </a:txBody>
                  <a:tcPr marL="9525" marR="9525" marT="9525" marB="9525" anchor="ct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Age Group</a:t>
                      </a:r>
                    </a:p>
                  </a:txBody>
                  <a:tcPr anchor="ctr">
                    <a:solidFill>
                      <a:schemeClr val="accent2">
                        <a:lumMod val="20000"/>
                        <a:lumOff val="80000"/>
                      </a:schemeClr>
                    </a:solidFill>
                  </a:tcP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Building reward systems to provide incentives to Senior Citizens (31-50) and growing customer base in Young Adults (18-30)</a:t>
                      </a:r>
                    </a:p>
                  </a:txBody>
                  <a:tcPr anchor="ctr">
                    <a:solidFill>
                      <a:schemeClr val="bg1"/>
                    </a:solidFill>
                  </a:tcPr>
                </a:tc>
                <a:extLst>
                  <a:ext uri="{0D108BD9-81ED-4DB2-BD59-A6C34878D82A}">
                    <a16:rowId xmlns:a16="http://schemas.microsoft.com/office/drawing/2014/main" val="1964617213"/>
                  </a:ext>
                </a:extLst>
              </a:tr>
              <a:tr h="435714">
                <a:tc rowSpan="3">
                  <a:txBody>
                    <a:bodyPr/>
                    <a:lstStyle/>
                    <a:p>
                      <a:pPr marL="0" lv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Improve Service Delivery</a:t>
                      </a:r>
                    </a:p>
                  </a:txBody>
                  <a:tcPr anchor="ctr">
                    <a:solidFill>
                      <a:schemeClr val="accent2">
                        <a:lumMod val="60000"/>
                        <a:lumOff val="40000"/>
                      </a:schemeClr>
                    </a:solidFill>
                  </a:tcP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Age Group</a:t>
                      </a:r>
                    </a:p>
                  </a:txBody>
                  <a:tcPr anchor="ctr">
                    <a:solidFill>
                      <a:schemeClr val="accent2">
                        <a:lumMod val="20000"/>
                        <a:lumOff val="80000"/>
                      </a:schemeClr>
                    </a:solidFill>
                  </a:tcPr>
                </a:tc>
                <a:tc>
                  <a:txBody>
                    <a:bodyPr/>
                    <a:lstStyle/>
                    <a:p>
                      <a:pPr marL="0" marR="0" lvl="0" indent="0" algn="ctr" defTabSz="914400" rtl="0" eaLnBrk="1" fontAlgn="auto" latinLnBrk="0" hangingPunct="1">
                        <a:lnSpc>
                          <a:spcPct val="115000"/>
                        </a:lnSpc>
                        <a:spcBef>
                          <a:spcPts val="0"/>
                        </a:spcBef>
                        <a:spcAft>
                          <a:spcPts val="800"/>
                        </a:spcAft>
                        <a:buClrTx/>
                        <a:buSzTx/>
                        <a:buFontTx/>
                        <a:buNone/>
                        <a:tabLst/>
                        <a:defRPr/>
                      </a:pPr>
                      <a:r>
                        <a:rPr lang="en-IN" sz="1400" kern="1200" dirty="0">
                          <a:solidFill>
                            <a:schemeClr val="dk1"/>
                          </a:solidFill>
                          <a:latin typeface="Helvetica" pitchFamily="2" charset="0"/>
                          <a:ea typeface="+mn-ea"/>
                          <a:cs typeface="+mn-cs"/>
                        </a:rPr>
                        <a:t>Tailoring strategies and services to address Middle Aged Adults (31-50). </a:t>
                      </a:r>
                    </a:p>
                  </a:txBody>
                  <a:tcPr anchor="ctr">
                    <a:solidFill>
                      <a:schemeClr val="bg1"/>
                    </a:solidFill>
                  </a:tcPr>
                </a:tc>
                <a:extLst>
                  <a:ext uri="{0D108BD9-81ED-4DB2-BD59-A6C34878D82A}">
                    <a16:rowId xmlns:a16="http://schemas.microsoft.com/office/drawing/2014/main" val="2961379725"/>
                  </a:ext>
                </a:extLst>
              </a:tr>
              <a:tr h="659913">
                <a:tc vMerge="1">
                  <a:txBody>
                    <a:bodyPr/>
                    <a:lstStyle/>
                    <a:p>
                      <a:pPr marL="0" lvl="0" algn="ctr" defTabSz="914400" rtl="0" eaLnBrk="1" latinLnBrk="0" hangingPunct="1">
                        <a:lnSpc>
                          <a:spcPct val="115000"/>
                        </a:lnSpc>
                        <a:spcAft>
                          <a:spcPts val="800"/>
                        </a:spcAft>
                        <a:buNone/>
                      </a:pPr>
                      <a:endParaRPr lang="en-IN" sz="1400" kern="1200" dirty="0">
                        <a:solidFill>
                          <a:schemeClr val="dk1"/>
                        </a:solidFill>
                        <a:latin typeface="Helvetica" pitchFamily="2" charset="0"/>
                        <a:ea typeface="+mn-ea"/>
                        <a:cs typeface="+mn-cs"/>
                      </a:endParaRPr>
                    </a:p>
                  </a:txBody>
                  <a:tcPr anchor="ct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Credit Category</a:t>
                      </a:r>
                    </a:p>
                  </a:txBody>
                  <a:tcPr anchor="ctr">
                    <a:solidFill>
                      <a:schemeClr val="accent2">
                        <a:lumMod val="20000"/>
                        <a:lumOff val="80000"/>
                      </a:schemeClr>
                    </a:solidFill>
                  </a:tcP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Offering lucrative credit card services and higher benefits to non-credit card holders  </a:t>
                      </a:r>
                    </a:p>
                  </a:txBody>
                  <a:tcPr anchor="ctr">
                    <a:solidFill>
                      <a:schemeClr val="bg1"/>
                    </a:solidFill>
                  </a:tcPr>
                </a:tc>
                <a:extLst>
                  <a:ext uri="{0D108BD9-81ED-4DB2-BD59-A6C34878D82A}">
                    <a16:rowId xmlns:a16="http://schemas.microsoft.com/office/drawing/2014/main" val="2915879616"/>
                  </a:ext>
                </a:extLst>
              </a:tr>
              <a:tr h="659913">
                <a:tc vMerge="1">
                  <a:txBody>
                    <a:bodyPr/>
                    <a:lstStyle/>
                    <a:p>
                      <a:pPr marL="0" lvl="0" algn="ctr" defTabSz="914400" rtl="0" eaLnBrk="1" latinLnBrk="0" hangingPunct="1">
                        <a:lnSpc>
                          <a:spcPct val="115000"/>
                        </a:lnSpc>
                        <a:spcAft>
                          <a:spcPts val="800"/>
                        </a:spcAft>
                        <a:buNone/>
                      </a:pPr>
                      <a:endParaRPr lang="en-IN" sz="1400" kern="1200" dirty="0">
                        <a:solidFill>
                          <a:schemeClr val="dk1"/>
                        </a:solidFill>
                        <a:latin typeface="Helvetica" pitchFamily="2" charset="0"/>
                        <a:ea typeface="+mn-ea"/>
                        <a:cs typeface="+mn-cs"/>
                      </a:endParaRPr>
                    </a:p>
                  </a:txBody>
                  <a:tcPr anchor="ct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Gender</a:t>
                      </a:r>
                    </a:p>
                  </a:txBody>
                  <a:tcPr anchor="ctr">
                    <a:solidFill>
                      <a:schemeClr val="accent2">
                        <a:lumMod val="20000"/>
                        <a:lumOff val="80000"/>
                      </a:schemeClr>
                    </a:solidFill>
                  </a:tcP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Understanding the pain points of female customer who have higher average salary than male and low activity to increase their participation </a:t>
                      </a:r>
                    </a:p>
                  </a:txBody>
                  <a:tcPr anchor="ctr">
                    <a:solidFill>
                      <a:schemeClr val="bg1"/>
                    </a:solidFill>
                  </a:tcPr>
                </a:tc>
                <a:extLst>
                  <a:ext uri="{0D108BD9-81ED-4DB2-BD59-A6C34878D82A}">
                    <a16:rowId xmlns:a16="http://schemas.microsoft.com/office/drawing/2014/main" val="3453688375"/>
                  </a:ext>
                </a:extLst>
              </a:tr>
              <a:tr h="659913">
                <a:tc>
                  <a:txBody>
                    <a:bodyPr/>
                    <a:lstStyle/>
                    <a:p>
                      <a:pPr marL="0" lv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Customer Satisfaction </a:t>
                      </a:r>
                    </a:p>
                  </a:txBody>
                  <a:tcPr anchor="ctr">
                    <a:solidFill>
                      <a:schemeClr val="accent2">
                        <a:lumMod val="60000"/>
                        <a:lumOff val="40000"/>
                      </a:schemeClr>
                    </a:solidFill>
                  </a:tcP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Active Members</a:t>
                      </a:r>
                    </a:p>
                  </a:txBody>
                  <a:tcPr anchor="ctr">
                    <a:solidFill>
                      <a:schemeClr val="accent2">
                        <a:lumMod val="20000"/>
                        <a:lumOff val="80000"/>
                      </a:schemeClr>
                    </a:solidFill>
                  </a:tcPr>
                </a:tc>
                <a:tc>
                  <a:txBody>
                    <a:bodyPr/>
                    <a:lstStyle/>
                    <a:p>
                      <a:pPr marL="0" algn="ctr" defTabSz="914400" rtl="0" eaLnBrk="1" latinLnBrk="0" hangingPunct="1">
                        <a:lnSpc>
                          <a:spcPct val="115000"/>
                        </a:lnSpc>
                        <a:spcAft>
                          <a:spcPts val="800"/>
                        </a:spcAft>
                        <a:buNone/>
                      </a:pPr>
                      <a:r>
                        <a:rPr lang="en-IN" sz="1400" kern="1200" dirty="0">
                          <a:solidFill>
                            <a:schemeClr val="dk1"/>
                          </a:solidFill>
                          <a:latin typeface="Helvetica" pitchFamily="2" charset="0"/>
                          <a:ea typeface="+mn-ea"/>
                          <a:cs typeface="+mn-cs"/>
                        </a:rPr>
                        <a:t>Active members should be handled carefully, and non-active members should be surveyed for inactivity.</a:t>
                      </a:r>
                    </a:p>
                  </a:txBody>
                  <a:tcPr anchor="ctr">
                    <a:solidFill>
                      <a:schemeClr val="bg1"/>
                    </a:solidFill>
                  </a:tcPr>
                </a:tc>
                <a:extLst>
                  <a:ext uri="{0D108BD9-81ED-4DB2-BD59-A6C34878D82A}">
                    <a16:rowId xmlns:a16="http://schemas.microsoft.com/office/drawing/2014/main" val="804776366"/>
                  </a:ext>
                </a:extLst>
              </a:tr>
            </a:tbl>
          </a:graphicData>
        </a:graphic>
      </p:graphicFrame>
    </p:spTree>
    <p:extLst>
      <p:ext uri="{BB962C8B-B14F-4D97-AF65-F5344CB8AC3E}">
        <p14:creationId xmlns:p14="http://schemas.microsoft.com/office/powerpoint/2010/main" val="42922196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C8512-07C2-C055-A185-75DC8C0FC2D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D96C2A2-9954-545E-7E17-8B61C75C1CBF}"/>
              </a:ext>
            </a:extLst>
          </p:cNvPr>
          <p:cNvSpPr txBox="1"/>
          <p:nvPr/>
        </p:nvSpPr>
        <p:spPr>
          <a:xfrm>
            <a:off x="2448911" y="2921169"/>
            <a:ext cx="7294179" cy="1015663"/>
          </a:xfrm>
          <a:prstGeom prst="rect">
            <a:avLst/>
          </a:prstGeom>
          <a:noFill/>
        </p:spPr>
        <p:txBody>
          <a:bodyPr wrap="square">
            <a:spAutoFit/>
          </a:bodyPr>
          <a:lstStyle/>
          <a:p>
            <a:pPr algn="ctr"/>
            <a:r>
              <a:rPr lang="en-IN" sz="6000" b="1" dirty="0">
                <a:solidFill>
                  <a:schemeClr val="accent2"/>
                </a:solidFill>
                <a:latin typeface="Helvetica" pitchFamily="2" charset="0"/>
                <a:ea typeface="Verdana" panose="020B0604030504040204" pitchFamily="34" charset="0"/>
              </a:rPr>
              <a:t>THANK YOU</a:t>
            </a:r>
            <a:endParaRPr lang="en-IN" sz="6000" b="1" dirty="0">
              <a:solidFill>
                <a:schemeClr val="accent2"/>
              </a:solidFill>
            </a:endParaRPr>
          </a:p>
        </p:txBody>
      </p:sp>
    </p:spTree>
    <p:extLst>
      <p:ext uri="{BB962C8B-B14F-4D97-AF65-F5344CB8AC3E}">
        <p14:creationId xmlns:p14="http://schemas.microsoft.com/office/powerpoint/2010/main" val="2676997790"/>
      </p:ext>
    </p:extLst>
  </p:cSld>
  <p:clrMapOvr>
    <a:masterClrMapping/>
  </p:clrMapOvr>
</p:sld>
</file>

<file path=ppt/theme/theme1.xml><?xml version="1.0" encoding="utf-8"?>
<a:theme xmlns:a="http://schemas.openxmlformats.org/drawingml/2006/main" name="Office Theme">
  <a:themeElements>
    <a:clrScheme name="All Purpose Theme">
      <a:dk1>
        <a:srgbClr val="000000"/>
      </a:dk1>
      <a:lt1>
        <a:srgbClr val="FFFFFF"/>
      </a:lt1>
      <a:dk2>
        <a:srgbClr val="222324"/>
      </a:dk2>
      <a:lt2>
        <a:srgbClr val="F7F7F7"/>
      </a:lt2>
      <a:accent1>
        <a:srgbClr val="8721FF"/>
      </a:accent1>
      <a:accent2>
        <a:srgbClr val="FF457E"/>
      </a:accent2>
      <a:accent3>
        <a:srgbClr val="4694FF"/>
      </a:accent3>
      <a:accent4>
        <a:srgbClr val="FFDB45"/>
      </a:accent4>
      <a:accent5>
        <a:srgbClr val="30E584"/>
      </a:accent5>
      <a:accent6>
        <a:srgbClr val="848483"/>
      </a:accent6>
      <a:hlink>
        <a:srgbClr val="CBA135"/>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2073</TotalTime>
  <Words>1318</Words>
  <Application>Microsoft Office PowerPoint</Application>
  <PresentationFormat>Widescreen</PresentationFormat>
  <Paragraphs>150</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Helvetica</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 ARNAV BANGARIA</dc:creator>
  <cp:lastModifiedBy>Admin</cp:lastModifiedBy>
  <cp:revision>103</cp:revision>
  <dcterms:created xsi:type="dcterms:W3CDTF">2025-07-15T21:02:13Z</dcterms:created>
  <dcterms:modified xsi:type="dcterms:W3CDTF">2026-04-02T08:50:49Z</dcterms:modified>
</cp:coreProperties>
</file>